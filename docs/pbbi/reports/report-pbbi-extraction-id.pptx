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ul" id="{CCAFF3A9-BFC4-4DC5-0BE9-FCA4360CEEFF}">
          <p14:sldIdLst>
            <p14:sldId id="256"/>
          </p14:sldIdLst>
        </p14:section>
        <p14:section name="Ringkasan eksekutif" id="{10F23605-9A64-2A7D-E054-F7508BA8E128}">
          <p14:sldIdLst>
            <p14:sldId id="257"/>
          </p14:sldIdLst>
        </p14:section>
        <p14:section name="Persiapan data" id="{EC9665A9-386B-0C3B-24B8-3B6090677150}">
          <p14:sldIdLst>
            <p14:sldId id="258"/>
            <p14:sldId id="259"/>
            <p14:sldId id="260"/>
          </p14:sldIdLst>
        </p14:section>
        <p14:section name="Pelatihan model" id="{B32CD314-FED9-C68D-0026-C971547D2A43}">
          <p14:sldIdLst>
            <p14:sldId id="261"/>
            <p14:sldId id="262"/>
          </p14:sldIdLst>
        </p14:section>
        <p14:section name="Pengukuran akurasi" id="{0F3C7E88-E746-F4F6-5EE4-118A1258C310}">
          <p14:sldIdLst>
            <p14:sldId id="263"/>
            <p14:sldId id="264"/>
          </p14:sldIdLst>
        </p14:section>
        <p14:section name="Hasil" id="{C0B27799-86B7-2D1C-B7C8-3440885CE82A}">
          <p14:sldIdLst>
            <p14:sldId id="265"/>
            <p14:sldId id="266"/>
            <p14:sldId id="267"/>
          </p14:sldIdLst>
        </p14:section>
        <p14:section name="Prospek" id="{2E55B1C9-6840-5DAE-11D3-2A1E6429D246}">
          <p14:sldIdLst>
            <p14:sldId id="268"/>
          </p14:sldIdLst>
        </p14:section>
        <p14:section name="Lampiran" id="{9B0EAADE-D2F7-DBA4-9539-D0AC565CFBCD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077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Ekstraksi Klausa PBBI · Oktober 2026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023" y="6428232"/>
            <a:ext cx="256032" cy="248717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9144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dirty="0">
                <a:solidFill>
                  <a:srgbClr val="8CC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914400" y="28803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914400" y="37947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CC7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dung Bank Indonesi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pic>
        <p:nvPicPr>
          <p:cNvPr id="3" name="Image 1" descr="Logo ScaleJa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566928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61872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ScaleJade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9539935" y="0"/>
            <a:ext cx="2651760" cy="45720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9539935" y="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EVALUASI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103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Ekstraksi Klausa Perjanjian Baku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 fine-tuned dibandingkan gpt-4.1-mini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resmi untuk Bank Indonesia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RINGKASAN EKSEKUTIF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fine-tuned menemukan 2,3 kali lebih banyak klausa yang benar dibanding gpt-4.1-mini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24028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2128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Bank Indonesia yang ditemukan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224028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128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hasil model yang benar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224028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22128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gabungan, skala 0–100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4864" cy="7315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4114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dari 17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uji: skor model fine-tuned lebih tinggi; 2 seri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4160520"/>
            <a:ext cx="54864" cy="7315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480560" y="4114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banyak klausa ditemukan pada dokumen panjang (200+ klausa)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4160520"/>
            <a:ext cx="54864" cy="7315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229600" y="4114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dokumen tertangkap; hanya 3% klausa yang benar-benar hilang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94415" cy="731520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51663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model fine-tuned untuk tahap pertama pemeriksaan Perjanjian Baku, dan tambah dokumen berlabel untuk meningkatkan akurasinya.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2026; 17 dokumen uji (2.074 klausa) yang tidak dipakai saat pelatihan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PERSIAPAN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dilatih dan diuji dengan 60 dokumen yang dirinci Bank Indonesia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Perjanjian Baku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4846320" cy="0"/>
          </a:xfrm>
          <a:prstGeom prst="line">
            <a:avLst/>
          </a:prstGeom>
          <a:noFill/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7614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761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penyelenggara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4846320" cy="0"/>
          </a:xfrm>
          <a:prstGeom prst="line">
            <a:avLst/>
          </a:prstGeom>
          <a:noFill/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7856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7856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produk, dari mobile banking hingga remitansi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27448"/>
            <a:ext cx="4846320" cy="0"/>
          </a:xfrm>
          <a:prstGeom prst="line">
            <a:avLst/>
          </a:prstGeom>
          <a:noFill/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80974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6.890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8097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dalam data rincian Bank Indonesia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1737360"/>
            <a:ext cx="5788152" cy="406908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2648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model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Memecah dokumen menjadi klausa, masing-masing dengan tiga atribut: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1691640" cy="438912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126480" y="27432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Pasal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pasal dan butir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1691640" cy="438912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126480" y="32918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Klausa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singkat isi klausa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1691640" cy="438912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126480" y="3840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Bunyi Klausa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38404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persis seperti dalam dokumen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452628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yang terlewat tidak akan diperiksa. </a:t>
            </a: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itu, berapa banyak klausa yang ditemukan model (recall) adalah ukuran terpenting.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rincian Bank Indonesia; hasil analisis ScaleJade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PERSIAPAN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dikelompokkan ke dalam 29 kategori: jenis penyelenggara × produk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1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dokumen per jenis penyelenggara (total 60)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Swasta Nasional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34640" y="2154196"/>
            <a:ext cx="3566160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73952" y="2057400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6851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Multinational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34640" y="2663647"/>
            <a:ext cx="2852928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60720" y="2566851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76303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34640" y="3173099"/>
            <a:ext cx="2377440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85232" y="3076303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85754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BUMN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34640" y="3682550"/>
            <a:ext cx="1901952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09744" y="3585754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95206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Swasta Nasional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34640" y="4192001"/>
            <a:ext cx="1664208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0" y="4095206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04657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BPD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34640" y="4701453"/>
            <a:ext cx="1188720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096512" y="4604657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14109"/>
            <a:ext cx="21488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LSB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5210904"/>
            <a:ext cx="713232" cy="3158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621024" y="5114109"/>
            <a:ext cx="548640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834640" y="2057400"/>
            <a:ext cx="0" cy="3566160"/>
          </a:xfrm>
          <a:prstGeom prst="line">
            <a:avLst/>
          </a:prstGeom>
          <a:noFill/>
          <a:ln w="9525">
            <a:solidFill>
              <a:srgbClr val="0B1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1600200"/>
            <a:ext cx="4462272" cy="420624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40664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pengkategorian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penyelenggara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3017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Bank Pembangunan Daerah Aceh, Mobile Banking → kategori BPD / Mobile Banking.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3611880"/>
            <a:ext cx="4023360" cy="0"/>
          </a:xfrm>
          <a:prstGeom prst="line">
            <a:avLst/>
          </a:prstGeom>
          <a:noFill/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406640" y="37033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 </a:t>
            </a:r>
            <a:r>
              <a:rPr lang="en-US" sz="11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penyelenggara utama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Multinational  </a:t>
            </a:r>
            <a:r>
              <a:rPr lang="en-US" sz="11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asing / berkepemilikan asing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BUMN  </a:t>
            </a:r>
            <a:r>
              <a:rPr lang="en-US" sz="11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milik negara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  </a:t>
            </a:r>
            <a:r>
              <a:rPr lang="en-US" sz="11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Pembangunan Daerah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 </a:t>
            </a:r>
            <a:r>
              <a:rPr lang="en-US" sz="11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selain bank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acuan Bank Indonesia; klasifikasi yang telah ditetapkan Bank Indonesia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PERSIAPAN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60 dokumen, 39 dipakai untuk melatih model, 4 untuk memantau kemajuan, dan 17 untuk uji akhir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01168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· 4.381 klausa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kelompok yang dipelajari model.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201168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914400" cy="914400"/>
          </a:xfrm>
          <a:prstGeom prst="ellipse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· 435 klausa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kemajuan dan memilih versi terbaik.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201168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1920240"/>
            <a:ext cx="914400" cy="914400"/>
          </a:xfrm>
          <a:prstGeom prst="ellipse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667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· 2.074 klausa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Dirahasiakan hingga akhir; dasar semua hasil.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aturan pembagian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402336" cy="40233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kategori dipelajari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29 kategori memiliki dokumen pelatihan.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7680" y="4343400"/>
            <a:ext cx="402336" cy="40233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9768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sebanyak mungkin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kategori juga diuji; 12 lainnya terlalu sedikit dokumennya.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4343400"/>
            <a:ext cx="402336" cy="40233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4672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343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yang adil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model diuji pada 17 dokumen yang sama persis.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cakupan per kategori: Lampiran B.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rincian Bank Indonesia; hasil analisis ScaleJade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PELATIHAN MODEL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dibangun dari model dasar berbahasa Indonesia, ditambah lapisan khusus berukuran kecil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Susunan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194560" cy="91440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PDF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utuh sebagai teks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3017520"/>
            <a:ext cx="731520" cy="0"/>
          </a:xfrm>
          <a:prstGeom prst="line">
            <a:avLst/>
          </a:prstGeom>
          <a:noFill/>
          <a:ln w="15875">
            <a:solidFill>
              <a:srgbClr val="0B1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0" y="2057400"/>
            <a:ext cx="4937760" cy="64008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5760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khusus (LoRA adapter) · 0,3% dari ukuran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0" y="2770632"/>
            <a:ext cx="4937760" cy="1051560"/>
          </a:xfrm>
          <a:prstGeom prst="rect">
            <a:avLst/>
          </a:prstGeom>
          <a:solidFill>
            <a:srgbClr val="A8D5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57600" y="27706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dasar: Qwen-SEA-LION-v4.5-27B-IT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Singapore (aisingapore/Qwen-SEA-LION-v4.5-27B-IT)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0" y="3017520"/>
            <a:ext cx="731520" cy="0"/>
          </a:xfrm>
          <a:prstGeom prst="line">
            <a:avLst/>
          </a:prstGeom>
          <a:noFill/>
          <a:ln w="15875">
            <a:solidFill>
              <a:srgbClr val="0B1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09760" y="2560320"/>
            <a:ext cx="2130552" cy="91440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509760" y="256032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klausa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· topik · bunyi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3474720" cy="457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dasar sudah memahami bahasa Indonesia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terbuka dari AI Singapore untuk bahasa-bahasa Asia Tenggara; tidak dibangun dari nol.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4160520"/>
            <a:ext cx="3474720" cy="457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297680" y="4343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lapisan khusus yang dilatih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39 dokumen utuh (15.000–89.000 token) beserta data rincian Bank Indonesia.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160520"/>
            <a:ext cx="3474720" cy="4572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046720" y="4343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persis seperti di aplikasi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Pembacaan teks sama dengan aplikasi produksi, sehingga hasil uji mencerminkan penggunaan nyata.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AI Singapore; ScaleJade, Oktober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PELATIHAN MODEL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 terbaik dicapai setelah model membaca seluruh dokumen pelatihan satu kali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274320" cy="274320"/>
          </a:xfrm>
          <a:prstGeom prst="ellipse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diukur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hasil model dari data rincian Bank Indonesia pada 4 dokumen validasi. Makin rendah, makin baik.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71576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4–16: belajar cepat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turun dari 0,33 ke 0,25.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274320" cy="274320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739896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20: titik terbaik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terendah (0,244); setara membaca 39 dokumen pelatihan satu kali (1 langkah = 2 dokumen).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91456"/>
            <a:ext cx="274320" cy="274320"/>
          </a:xfrm>
          <a:prstGeom prst="ellipse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76402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langkah 20: mulai menghafal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naik tipis, jadi versi langkah 20 yang disimpan.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645920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3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pada dokumen validasi selama pelatihan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5303520"/>
            <a:ext cx="6126480" cy="0"/>
          </a:xfrm>
          <a:prstGeom prst="line">
            <a:avLst/>
          </a:prstGeom>
          <a:noFill/>
          <a:ln w="9525">
            <a:solidFill>
              <a:srgbClr val="0B1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00600" y="51846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4251960"/>
            <a:ext cx="6126480" cy="0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00600" y="4133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200400"/>
            <a:ext cx="6126480" cy="0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800600" y="3081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148840"/>
            <a:ext cx="6126480" cy="0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00600" y="2029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26964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39612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652260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64908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77556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90204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102852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15500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328148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940796" y="5349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559612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pelatihan (step)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06156" y="2148840"/>
            <a:ext cx="0" cy="3154680"/>
          </a:xfrm>
          <a:prstGeom prst="line">
            <a:avLst/>
          </a:prstGeom>
          <a:noFill/>
          <a:ln w="12700">
            <a:solidFill>
              <a:srgbClr val="0B5E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55564" y="2516886"/>
            <a:ext cx="612648" cy="1209294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8212" y="3726180"/>
            <a:ext cx="612648" cy="736092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80860" y="4462272"/>
            <a:ext cx="612648" cy="184023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93508" y="4646295"/>
            <a:ext cx="612648" cy="36805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8106156" y="4664697"/>
            <a:ext cx="612648" cy="18402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8718804" y="4643666"/>
            <a:ext cx="612648" cy="21031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9331452" y="4609490"/>
            <a:ext cx="612648" cy="34176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9944100" y="4596346"/>
            <a:ext cx="612648" cy="13144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10556748" y="4588459"/>
            <a:ext cx="612648" cy="7887"/>
          </a:xfrm>
          <a:prstGeom prst="line">
            <a:avLst/>
          </a:prstGeom>
          <a:noFill/>
          <a:ln w="317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00700" y="2462022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13348" y="3671316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25996" y="4407408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38644" y="4591431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014716" y="45916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5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663940" y="4609833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276588" y="4588802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889236" y="4554626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501884" y="4541482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114532" y="4533595"/>
            <a:ext cx="109728" cy="109728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289036" y="2286000"/>
            <a:ext cx="3931920" cy="68580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8426196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terbaik: langkah 20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dirilis sebagai model fine-tuned v0.1.3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Log pelatihan ScaleJade, Oktober 2026</a:t>
            </a:r>
            <a:endParaRPr lang="en-US" sz="10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PENGUKURAN AKURASI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Kedua model diuji dengan cara yang sama; klausa dianggap cocok bila minimal 80% katanya sama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54864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dokumen uji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32504" y="1965960"/>
            <a:ext cx="292608" cy="0"/>
          </a:xfrm>
          <a:prstGeom prst="line">
            <a:avLst/>
          </a:prstGeom>
          <a:noFill/>
          <a:ln w="15875">
            <a:solidFill>
              <a:srgbClr val="0B1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79976" y="1691640"/>
            <a:ext cx="3429000" cy="54864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379976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 &amp; gpt-4.1-mini, instruksi sama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1965960"/>
            <a:ext cx="292608" cy="0"/>
          </a:xfrm>
          <a:prstGeom prst="line">
            <a:avLst/>
          </a:prstGeom>
          <a:noFill/>
          <a:ln w="15875">
            <a:solidFill>
              <a:srgbClr val="0B1F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11312" y="1691640"/>
            <a:ext cx="3429000" cy="54864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11312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Dinilai terhadap data rincian Bank Indonesia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23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pencocokan: </a:t>
            </a:r>
            <a:r>
              <a:rPr lang="en-US" sz="13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kesamaan kata, bukan kemiripan makna (bukan cosine similarity). Setiap klausa hanya dapat dicocokkan sekali.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94415" cy="685800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8346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Bank Indonesia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wajib menjaga kerahasiaan PIN dan tidak memberitahukan PIN kepada pihak mana pun, termasuk petugas Bank.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611880" cy="2103120"/>
          </a:xfrm>
          <a:prstGeom prst="rect">
            <a:avLst/>
          </a:prstGeom>
          <a:solidFill>
            <a:srgbClr val="EA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 </a:t>
            </a: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baca berbeda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148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wajib menjaga kerahasiaan PIN, dan tidak memberitahukan PIN kepada pihak mana pun termasuk petugas Bank.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03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semua kata sama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611880" cy="210312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2628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COCOK  </a:t>
            </a: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klausa digabung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1148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wajib menjaga kerahasiaan PIN … petugas Bank. </a:t>
            </a:r>
            <a:r>
              <a:rPr lang="en-US" sz="1200" i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Segala kerugian akibat kelalaian Nasabah menjadi tanggung jawab Nasabah.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303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tambahan: kesamaan &lt; 80%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611880" cy="210312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27532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COCOK  </a:t>
            </a:r>
            <a:r>
              <a:rPr lang="en-US" sz="13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klausa dipecah dua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1148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wajib menjaga kerahasiaan PIN.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5303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sebagian klausa: &lt; 80%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521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contoh dibuat untuk ilustrasi dan tidak dikutip dari dokumen mana pun.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PENGUKURAN AKURASI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fine-tuned unggul pada ketiga ukuran akurasi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74720" cy="356616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“Apakah semua klausa ditemukan?”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÷ klausa Bank Indonesia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  ·  1.365 ÷ 2.074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85032"/>
            <a:ext cx="1478585" cy="38404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374697" y="36393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 ·  587 ÷ 2.074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873752"/>
            <a:ext cx="627278" cy="384048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523390" y="4828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474720" cy="640080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3474720" cy="356616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“Apakah hasil model benar?”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÷ klausa yang dihasilkan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  ·  1.365 ÷ 1.741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685032"/>
            <a:ext cx="1747418" cy="38404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392570" y="36393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 ·  587 ÷ 929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4873752"/>
            <a:ext cx="1411376" cy="384048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056528" y="4828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46720" y="1691640"/>
            <a:ext cx="3474720" cy="640080"/>
          </a:xfrm>
          <a:prstGeom prst="rect">
            <a:avLst/>
          </a:prstGeom>
          <a:solidFill>
            <a:srgbClr val="0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32104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46720" y="2331720"/>
            <a:ext cx="3474720" cy="356616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3210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“Satu skor keseluruhan (0–100)”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P × R ÷ (P + R)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3685032"/>
            <a:ext cx="1613002" cy="38404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0007194" y="36393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4873752"/>
            <a:ext cx="873709" cy="384048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267901" y="4828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8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paling penting: klausa yang tidak ditemukan tidak akan diperiksa.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2026; 17 dokumen uji</a:t>
            </a: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fine-tuned unggul pada 13 dari 17 dokumen uji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4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per dokumen (0–100), diurutkan menurut selisih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37560" y="2057400"/>
            <a:ext cx="0" cy="3652114"/>
          </a:xfrm>
          <a:prstGeom prst="line">
            <a:avLst/>
          </a:prstGeom>
          <a:noFill/>
          <a:ln w="9525">
            <a:solidFill>
              <a:srgbClr val="0B1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1089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52010" y="2057400"/>
            <a:ext cx="0" cy="3652114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2341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66460" y="2057400"/>
            <a:ext cx="0" cy="3652114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378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80910" y="2057400"/>
            <a:ext cx="0" cy="3652114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05231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0" y="2057400"/>
            <a:ext cx="0" cy="3652114"/>
          </a:xfrm>
          <a:prstGeom prst="line">
            <a:avLst/>
          </a:prstGeom>
          <a:noFill/>
          <a:ln w="635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667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103120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2103120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SINARMAS UE Server-Based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1074" y="2209190"/>
            <a:ext cx="4048506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57066" y="2145182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05572" y="2145182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23960" y="210312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210312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469880" y="210312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315261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SEABANK Mobile Banking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2421331"/>
            <a:ext cx="2944368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25112" y="2357323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69480" y="2357323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823960" y="231526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231526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469880" y="231526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527402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48640" y="2527402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BJB Mobile Banking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3028" y="2633472"/>
            <a:ext cx="2891790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89020" y="2569464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80810" y="2569464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823960" y="252740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252740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469880" y="252740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2739542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Kartu Kredit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73652" y="2845613"/>
            <a:ext cx="2839212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09644" y="2781605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48856" y="2781605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8823960" y="273954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646920" y="273954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469880" y="273954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2951683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548640" y="2951683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 Payment Gateway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72634" y="3057754"/>
            <a:ext cx="2313432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08626" y="2993746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22058" y="2993746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8823960" y="295168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646920" y="295168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0469880" y="295168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3163824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 Kartu Kredit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0056" y="3269894"/>
            <a:ext cx="1945386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56048" y="3205886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01434" y="3205886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8823960" y="3163824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646920" y="3163824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469880" y="3163824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3375965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548640" y="3375965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SHOPEEPAY UE Server-Based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88102" y="3482035"/>
            <a:ext cx="1787652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324094" y="3418027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111746" y="3418027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8823960" y="3375965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9646920" y="3375965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10469880" y="3375965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3588106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Mobile Banking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703570" y="3694176"/>
            <a:ext cx="1419606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639562" y="3630168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059168" y="3630168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8823960" y="358810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9646920" y="358810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10469880" y="358810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" y="3800246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548640" y="3800246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Kartu Debit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965442" y="3906317"/>
            <a:ext cx="1367028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901434" y="3842309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268462" y="3842309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 txBox="1"/>
          <p:nvPr/>
        </p:nvSpPr>
        <p:spPr>
          <a:xfrm>
            <a:off x="8823960" y="380024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9646920" y="380024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10469880" y="3800246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4012387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MANDIRI Mobile Banking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702552" y="4118458"/>
            <a:ext cx="1261872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638544" y="4054450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900416" y="4054450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 txBox="1"/>
          <p:nvPr/>
        </p:nvSpPr>
        <p:spPr>
          <a:xfrm>
            <a:off x="8823960" y="4012387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9646920" y="4012387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10469880" y="4012387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548640" y="4224528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 txBox="1"/>
          <p:nvPr/>
        </p:nvSpPr>
        <p:spPr>
          <a:xfrm>
            <a:off x="548640" y="4224528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MUAMALAT Internet Banking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491222" y="4330598"/>
            <a:ext cx="1104138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427214" y="4266590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531352" y="4266590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 txBox="1"/>
          <p:nvPr/>
        </p:nvSpPr>
        <p:spPr>
          <a:xfrm>
            <a:off x="8823960" y="4224528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9646920" y="4224528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10469880" y="4224528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548640" y="4436669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NAGARI Mobile Banking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070598" y="4542739"/>
            <a:ext cx="683514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006590" y="4478731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7690104" y="4478731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8823960" y="4436669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9646920" y="4436669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10469880" y="4436669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48640" y="4648810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 txBox="1"/>
          <p:nvPr/>
        </p:nvSpPr>
        <p:spPr>
          <a:xfrm>
            <a:off x="548640" y="4648810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 Mobile &amp; Internet Banking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020056" y="4754880"/>
            <a:ext cx="525780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956048" y="4690872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481828" y="4690872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 txBox="1"/>
          <p:nvPr/>
        </p:nvSpPr>
        <p:spPr>
          <a:xfrm>
            <a:off x="8823960" y="464881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14" name="Text 112"/>
          <p:cNvSpPr txBox="1"/>
          <p:nvPr/>
        </p:nvSpPr>
        <p:spPr>
          <a:xfrm>
            <a:off x="9646920" y="464881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10469880" y="464881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548640" y="4860950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JATENG Kartu Debit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595360" y="4967021"/>
            <a:ext cx="0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8531352" y="4903013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531352" y="4903013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 txBox="1"/>
          <p:nvPr/>
        </p:nvSpPr>
        <p:spPr>
          <a:xfrm>
            <a:off x="8823960" y="486095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21" name="Text 119"/>
          <p:cNvSpPr txBox="1"/>
          <p:nvPr/>
        </p:nvSpPr>
        <p:spPr>
          <a:xfrm>
            <a:off x="9646920" y="486095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22" name="Text 120"/>
          <p:cNvSpPr txBox="1"/>
          <p:nvPr/>
        </p:nvSpPr>
        <p:spPr>
          <a:xfrm>
            <a:off x="10469880" y="4860950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548640" y="5073091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 txBox="1"/>
          <p:nvPr/>
        </p:nvSpPr>
        <p:spPr>
          <a:xfrm>
            <a:off x="548640" y="5073091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SULTRA Kartu Debit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7701534" y="5179162"/>
            <a:ext cx="0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7637526" y="5115154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7637526" y="5115154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 txBox="1"/>
          <p:nvPr/>
        </p:nvSpPr>
        <p:spPr>
          <a:xfrm>
            <a:off x="8823960" y="507309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129" name="Text 127"/>
          <p:cNvSpPr txBox="1"/>
          <p:nvPr/>
        </p:nvSpPr>
        <p:spPr>
          <a:xfrm>
            <a:off x="9646920" y="507309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130" name="Text 128"/>
          <p:cNvSpPr txBox="1"/>
          <p:nvPr/>
        </p:nvSpPr>
        <p:spPr>
          <a:xfrm>
            <a:off x="10469880" y="5073091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1" name="Text 129"/>
          <p:cNvSpPr txBox="1"/>
          <p:nvPr/>
        </p:nvSpPr>
        <p:spPr>
          <a:xfrm>
            <a:off x="548640" y="5285232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 UE Chip-Based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7701534" y="5391302"/>
            <a:ext cx="157734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795260" y="5327294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637526" y="5327294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 txBox="1"/>
          <p:nvPr/>
        </p:nvSpPr>
        <p:spPr>
          <a:xfrm>
            <a:off x="8823960" y="528523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136" name="Text 134"/>
          <p:cNvSpPr txBox="1"/>
          <p:nvPr/>
        </p:nvSpPr>
        <p:spPr>
          <a:xfrm>
            <a:off x="9646920" y="528523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10469880" y="5285232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548640" y="5497373"/>
            <a:ext cx="10744200" cy="212141"/>
          </a:xfrm>
          <a:prstGeom prst="rect">
            <a:avLst/>
          </a:prstGeom>
          <a:solidFill>
            <a:srgbClr val="F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 txBox="1"/>
          <p:nvPr/>
        </p:nvSpPr>
        <p:spPr>
          <a:xfrm>
            <a:off x="548640" y="5497373"/>
            <a:ext cx="26517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Internet Banking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5230368" y="5603443"/>
            <a:ext cx="525780" cy="0"/>
          </a:xfrm>
          <a:prstGeom prst="line">
            <a:avLst/>
          </a:prstGeom>
          <a:noFill/>
          <a:ln w="25400">
            <a:solidFill>
              <a:srgbClr val="B9BD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692140" y="5539435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166360" y="5539435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 txBox="1"/>
          <p:nvPr/>
        </p:nvSpPr>
        <p:spPr>
          <a:xfrm>
            <a:off x="8823960" y="549737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44" name="Text 142"/>
          <p:cNvSpPr txBox="1"/>
          <p:nvPr/>
        </p:nvSpPr>
        <p:spPr>
          <a:xfrm>
            <a:off x="9646920" y="549737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145" name="Text 143"/>
          <p:cNvSpPr txBox="1"/>
          <p:nvPr/>
        </p:nvSpPr>
        <p:spPr>
          <a:xfrm>
            <a:off x="10469880" y="5497373"/>
            <a:ext cx="82296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557784" y="5864962"/>
            <a:ext cx="128016" cy="128016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 txBox="1"/>
          <p:nvPr/>
        </p:nvSpPr>
        <p:spPr>
          <a:xfrm>
            <a:off x="749808" y="580095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2203704" y="5864962"/>
            <a:ext cx="128016" cy="128016"/>
          </a:xfrm>
          <a:prstGeom prst="ellipse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 txBox="1"/>
          <p:nvPr/>
        </p:nvSpPr>
        <p:spPr>
          <a:xfrm>
            <a:off x="2395728" y="580095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050" dirty="0"/>
          </a:p>
        </p:txBody>
      </p:sp>
      <p:sp>
        <p:nvSpPr>
          <p:cNvPr id="150" name="Text 148"/>
          <p:cNvSpPr txBox="1"/>
          <p:nvPr/>
        </p:nvSpPr>
        <p:spPr>
          <a:xfrm>
            <a:off x="3749040" y="5800954"/>
            <a:ext cx="7894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unggul tipis hanya pada 2 dokumen. Keunggulan model fine-tuned bertahan di 6 dari 8 produk dan seluruh 7 jenis penyelenggara.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2026. Rincian per dokumen: Lampiran A.</a:t>
            </a:r>
            <a:endParaRPr lang="en-US" sz="1000" dirty="0"/>
          </a:p>
        </p:txBody>
      </p:sp>
      <p:sp>
        <p:nvSpPr>
          <p:cNvPr id="1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Keunggulan terbesar pada dokumen panjang, tempat gpt-4.1-mini berhenti terlalu dini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5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(klausa ditemukan per 100), menurut panjang dokumen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20824"/>
            <a:ext cx="146304" cy="146304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020824"/>
            <a:ext cx="146304" cy="146304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88336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6309360" cy="0"/>
          </a:xfrm>
          <a:prstGeom prst="line">
            <a:avLst/>
          </a:prstGeom>
          <a:noFill/>
          <a:ln w="9525">
            <a:solidFill>
              <a:srgbClr val="0B1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" y="3063240"/>
            <a:ext cx="713232" cy="2194560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0392" y="271576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36776" y="3968496"/>
            <a:ext cx="713232" cy="1289304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636776" y="362102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30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klausa · 10 dok.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53512" y="3776472"/>
            <a:ext cx="713232" cy="148132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953512" y="34290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9896" y="4572000"/>
            <a:ext cx="713232" cy="685800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739896" y="42245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5330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100–199 klausa · 3 dok.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56632" y="3502152"/>
            <a:ext cx="713232" cy="175564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56632" y="315468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3016" y="4709160"/>
            <a:ext cx="713232" cy="548640"/>
          </a:xfrm>
          <a:prstGeom prst="rect">
            <a:avLst/>
          </a:prstGeom>
          <a:solidFill>
            <a:srgbClr val="B9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843016" y="436168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5330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klausa · 4 dok.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0" y="1600200"/>
            <a:ext cx="4325112" cy="425196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589520" y="1783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 vs 84%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klausa yang dihasilkan, dibanding data rincian Bank Indonesia (gpt-4.1-mini vs model fine-tuned)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ditemukan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657600"/>
          <a:ext cx="3840480" cy="131673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SEABANK Mobile Banking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B5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OCBC Kartu Kredit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B5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BJB Mobile Banking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B5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7589520" y="5074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mengakhiri jawabannya sendiri; jawabannya tidak terpotong.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2026. FT = model fine-tuned.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HASIL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fine-tuned menangkap 97% isi dokumen; hanya 3% klausa yang benar-benar hilang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6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100 klausa dalam data rincian Bank Indonesia, menurut hasil model fine-tuned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5256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61872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18488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75104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31720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88336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4952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58184" y="210312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5256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61872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18488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75104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31720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88336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44952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01568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58184" y="245973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256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61872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18488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75104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331720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88336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44952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01568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58184" y="2816352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05256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61872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18488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975104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331720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688336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044952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01568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58184" y="3172968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05256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261872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618488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975104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31720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688336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044952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401568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758184" y="3529584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8640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05256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261872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18488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975104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331720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688336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044952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401568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758184" y="3886200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48640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05256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261872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618488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975104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331720" y="4242816"/>
            <a:ext cx="301752" cy="30175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688336" y="4242816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044952" y="4242816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401568" y="4242816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758184" y="4242816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48640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05256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261872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618488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975104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331720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688336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044952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401568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758184" y="4599432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48640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05256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261872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618488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975104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331720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688336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044952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401568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758184" y="4956048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48640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905256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261872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618488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975104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331720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688336" y="5312664"/>
            <a:ext cx="301752" cy="301752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044952" y="5312664"/>
            <a:ext cx="301752" cy="301752"/>
          </a:xfrm>
          <a:prstGeom prst="rect">
            <a:avLst/>
          </a:prstGeom>
          <a:solidFill>
            <a:srgbClr val="B4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401568" y="5312664"/>
            <a:ext cx="301752" cy="301752"/>
          </a:xfrm>
          <a:prstGeom prst="rect">
            <a:avLst/>
          </a:prstGeom>
          <a:solidFill>
            <a:srgbClr val="B4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758184" y="5312664"/>
            <a:ext cx="301752" cy="301752"/>
          </a:xfrm>
          <a:prstGeom prst="rect">
            <a:avLst/>
          </a:prstGeom>
          <a:solidFill>
            <a:srgbClr val="B4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457200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5400" dirty="0"/>
          </a:p>
        </p:txBody>
      </p:sp>
      <p:sp>
        <p:nvSpPr>
          <p:cNvPr id="106" name="Text 104"/>
          <p:cNvSpPr txBox="1"/>
          <p:nvPr/>
        </p:nvSpPr>
        <p:spPr>
          <a:xfrm>
            <a:off x="662940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yang bunyinya ada dalam hasil analisis model</a:t>
            </a:r>
            <a:endParaRPr lang="en-US" sz="1500" dirty="0"/>
          </a:p>
        </p:txBody>
      </p:sp>
      <p:sp>
        <p:nvSpPr>
          <p:cNvPr id="107" name="Shape 105"/>
          <p:cNvSpPr/>
          <p:nvPr/>
        </p:nvSpPr>
        <p:spPr>
          <a:xfrm>
            <a:off x="4572000" y="3090672"/>
            <a:ext cx="201168" cy="201168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 txBox="1"/>
          <p:nvPr/>
        </p:nvSpPr>
        <p:spPr>
          <a:xfrm>
            <a:off x="4892040" y="3017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000" dirty="0"/>
          </a:p>
        </p:txBody>
      </p:sp>
      <p:sp>
        <p:nvSpPr>
          <p:cNvPr id="109" name="Text 107"/>
          <p:cNvSpPr txBox="1"/>
          <p:nvPr/>
        </p:nvSpPr>
        <p:spPr>
          <a:xfrm>
            <a:off x="5760720" y="299923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Ditemukan, dipecah persis seperti rincian Bank Indonesia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1.365 klausa · dihitung dalam recall</a:t>
            </a:r>
            <a:endParaRPr lang="en-US" sz="1350" dirty="0"/>
          </a:p>
        </p:txBody>
      </p:sp>
      <p:sp>
        <p:nvSpPr>
          <p:cNvPr id="110" name="Shape 108"/>
          <p:cNvSpPr/>
          <p:nvPr/>
        </p:nvSpPr>
        <p:spPr>
          <a:xfrm>
            <a:off x="4572000" y="3749040"/>
            <a:ext cx="201168" cy="201168"/>
          </a:xfrm>
          <a:prstGeom prst="rect">
            <a:avLst/>
          </a:prstGeom>
          <a:solidFill>
            <a:srgbClr val="8CC7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 txBox="1"/>
          <p:nvPr/>
        </p:nvSpPr>
        <p:spPr>
          <a:xfrm>
            <a:off x="4892040" y="36758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000" dirty="0"/>
          </a:p>
        </p:txBody>
      </p:sp>
      <p:sp>
        <p:nvSpPr>
          <p:cNvPr id="112" name="Text 110"/>
          <p:cNvSpPr txBox="1"/>
          <p:nvPr/>
        </p:nvSpPr>
        <p:spPr>
          <a:xfrm>
            <a:off x="5760720" y="365760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Ada, tetapi dipecah berbeda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klausa · mis. dua klausa digabung</a:t>
            </a:r>
            <a:endParaRPr lang="en-US" sz="1350" dirty="0"/>
          </a:p>
        </p:txBody>
      </p:sp>
      <p:sp>
        <p:nvSpPr>
          <p:cNvPr id="113" name="Shape 111"/>
          <p:cNvSpPr/>
          <p:nvPr/>
        </p:nvSpPr>
        <p:spPr>
          <a:xfrm>
            <a:off x="4572000" y="4407408"/>
            <a:ext cx="201168" cy="201168"/>
          </a:xfrm>
          <a:prstGeom prst="rect">
            <a:avLst/>
          </a:prstGeom>
          <a:solidFill>
            <a:srgbClr val="B4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 txBox="1"/>
          <p:nvPr/>
        </p:nvSpPr>
        <p:spPr>
          <a:xfrm>
            <a:off x="4892040" y="43342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2000" dirty="0"/>
          </a:p>
        </p:txBody>
      </p:sp>
      <p:sp>
        <p:nvSpPr>
          <p:cNvPr id="115" name="Text 113"/>
          <p:cNvSpPr txBox="1"/>
          <p:nvPr/>
        </p:nvSpPr>
        <p:spPr>
          <a:xfrm>
            <a:off x="5760720" y="431596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Benar-benar hilang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klausa · kurang dari 60% katanya muncul</a:t>
            </a:r>
            <a:endParaRPr lang="en-US" sz="1350" dirty="0"/>
          </a:p>
        </p:txBody>
      </p:sp>
      <p:sp>
        <p:nvSpPr>
          <p:cNvPr id="116" name="Shape 114"/>
          <p:cNvSpPr/>
          <p:nvPr/>
        </p:nvSpPr>
        <p:spPr>
          <a:xfrm>
            <a:off x="4572000" y="5074920"/>
            <a:ext cx="7068312" cy="77724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 txBox="1"/>
          <p:nvPr/>
        </p:nvSpPr>
        <p:spPr>
          <a:xfrm>
            <a:off x="4754880" y="5074920"/>
            <a:ext cx="6702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ambang 60%? </a:t>
            </a:r>
            <a:r>
              <a:rPr lang="en-US" sz="12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sini hanya diukur apakah isi klausa ada, bukan batasnya. Klausa yang lebih dari 40% katanya tidak muncul dianggap hilang.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548640" y="608076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</a:t>
            </a:r>
            <a:endParaRPr lang="en-US" sz="1000" dirty="0"/>
          </a:p>
        </p:txBody>
      </p:sp>
      <p:sp>
        <p:nvSpPr>
          <p:cNvPr id="1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PROSPEK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berikutnya: menerapkan model dan menambah dokumen berlabel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514600"/>
          </a:xfrm>
          <a:prstGeom prst="rect">
            <a:avLst/>
          </a:prstGeom>
          <a:solidFill>
            <a:srgbClr val="E8F2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model khusus cocok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tetap terkendali.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tidak dikirim ke layanan AI pihak ketiga.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metode Bank Indonesia.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mengikuti konvensi data rinciannya.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 kecepatan.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terpanjang ±16 menit (1 GPU H200, 8 dokumen bersamaan) vs &lt; 3 menit untuk gpt-4.1-mini.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53912" y="1691640"/>
            <a:ext cx="5486400" cy="2514600"/>
          </a:xfrm>
          <a:prstGeom prst="rect">
            <a:avLst/>
          </a:prstGeom>
          <a:solidFill>
            <a:srgbClr val="F1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28232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286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 kecil.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dokumen uji; hasil per produk bersifat indikatif.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ketat.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Klausa yang dipecah berbeda dihitung tidak ditemukan.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tidak disesuaikan. </a:t>
            </a:r>
            <a:r>
              <a:rPr lang="en-US" sz="14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sama, tanpa contoh atau pelatihan tambahan.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48640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52628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model fine-tuned v0.1.3 di aplikasi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tahap pertama pemeriksaan Perjanjian Baku.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ScaleJade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53912" y="4389120"/>
            <a:ext cx="548640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53912" y="438912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4572000"/>
            <a:ext cx="640080" cy="640080"/>
          </a:xfrm>
          <a:prstGeom prst="ellipse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28232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452628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dokumen berlabel untuk versi berikutnya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saat ini belum memungkinkan pelabelan lebih banyak; tambahan dokumen akan meningkatkan akurasi.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 bersama ScaleJade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per dokumen uji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451713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Fine-tuned: ditemukan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Fine-tuned: F1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gpt-4.1-mini: ditemukan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gpt-4.1-mini: F1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JATENG Kartu Debit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MUAMALAT Internet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BCA Kartu Debit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SINARMAS UE Server-Based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MANDIRI Mobile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NAGARI Mobile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 UE Chip-Based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SULTRA Kartu Debit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 Payment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SEABANK Mobile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SHOPEEPAY UE Server-Based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 Mobile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SMBC Kartu Kredit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OCBC Kartu Kredit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BJB Mobile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BOC Mobile &amp; Internet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OCBC Internet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17 dokumen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Evaluasi ScaleJade, Oktober 2026. Kedua model diatur pada jawaban paling konsisten; F1 Score dalam skala 0–100.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B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cakupan: seluruh 29 kategori memiliki dokumen pelatihan; 17 di antaranya juga diuji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7  </a:t>
            </a:r>
            <a:r>
              <a:rPr lang="en-US" sz="120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dokumen per jenis penyelenggara × produk, menurut kelompok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691433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Debit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685386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Banking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79338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Kredit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3291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Server-Based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67244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Internet Banking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61197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Chip-Based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655150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649102" y="1965960"/>
            <a:ext cx="9939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Remitansi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Swasta Nasional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24912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9280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9280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12744" y="2660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212744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18865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81501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781501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4965" y="2660904"/>
            <a:ext cx="246888" cy="256032"/>
          </a:xfrm>
          <a:prstGeom prst="rect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064965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8429" y="2660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348429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12818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17186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917186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00650" y="2660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200650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06770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11139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911139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4603" y="2660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194603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00723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05092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905092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88556" y="2660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188556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94676" y="2596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688629" y="2596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034729" y="2660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034729" y="2660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82582" y="2596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676534" y="2596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Multinational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724912" y="3054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929280" y="3118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2929280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12744" y="31181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3212744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718865" y="3054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064965" y="3118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4064965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12818" y="3054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17186" y="3118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4917186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200650" y="31181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5200650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706770" y="3054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911139" y="3118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5911139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194603" y="31181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6194603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700723" y="3054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694676" y="3054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899044" y="3118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7899044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182508" y="31181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8182508" y="3118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688629" y="3054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682582" y="3054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676534" y="3054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5486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2724912" y="35112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929280" y="35753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2929280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212744" y="35753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 txBox="1"/>
          <p:nvPr/>
        </p:nvSpPr>
        <p:spPr>
          <a:xfrm>
            <a:off x="3212744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718865" y="35112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781501" y="35753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3781501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4064965" y="3575304"/>
            <a:ext cx="246888" cy="256032"/>
          </a:xfrm>
          <a:prstGeom prst="rect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4064965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4348429" y="35753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 txBox="1"/>
          <p:nvPr/>
        </p:nvSpPr>
        <p:spPr>
          <a:xfrm>
            <a:off x="4348429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4712818" y="35112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058918" y="35753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 txBox="1"/>
          <p:nvPr/>
        </p:nvSpPr>
        <p:spPr>
          <a:xfrm>
            <a:off x="5058918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5706770" y="35112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6700723" y="35112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694676" y="35112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040776" y="35753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 txBox="1"/>
          <p:nvPr/>
        </p:nvSpPr>
        <p:spPr>
          <a:xfrm>
            <a:off x="8040776" y="35753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8688629" y="35112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682582" y="35112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676534" y="35112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54864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BUMN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2724912" y="39684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787548" y="40325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 txBox="1"/>
          <p:nvPr/>
        </p:nvSpPr>
        <p:spPr>
          <a:xfrm>
            <a:off x="2787548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3071012" y="4032504"/>
            <a:ext cx="246888" cy="256032"/>
          </a:xfrm>
          <a:prstGeom prst="rect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3071012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3354476" y="40325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 txBox="1"/>
          <p:nvPr/>
        </p:nvSpPr>
        <p:spPr>
          <a:xfrm>
            <a:off x="3354476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3718865" y="39684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064965" y="40325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 txBox="1"/>
          <p:nvPr/>
        </p:nvSpPr>
        <p:spPr>
          <a:xfrm>
            <a:off x="4064965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712818" y="39684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058918" y="40325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 txBox="1"/>
          <p:nvPr/>
        </p:nvSpPr>
        <p:spPr>
          <a:xfrm>
            <a:off x="5058918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706770" y="39684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052871" y="40325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 txBox="1"/>
          <p:nvPr/>
        </p:nvSpPr>
        <p:spPr>
          <a:xfrm>
            <a:off x="6052871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6700723" y="39684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7694676" y="39684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8688629" y="39684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8892997" y="40325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 txBox="1"/>
          <p:nvPr/>
        </p:nvSpPr>
        <p:spPr>
          <a:xfrm>
            <a:off x="8892997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9176461" y="40325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 txBox="1"/>
          <p:nvPr/>
        </p:nvSpPr>
        <p:spPr>
          <a:xfrm>
            <a:off x="9176461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9682582" y="39684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676534" y="39684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 txBox="1"/>
          <p:nvPr/>
        </p:nvSpPr>
        <p:spPr>
          <a:xfrm>
            <a:off x="548640" y="4389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Swasta Nasional</a:t>
            </a:r>
            <a:endParaRPr lang="en-US" sz="1150" dirty="0"/>
          </a:p>
        </p:txBody>
      </p:sp>
      <p:sp>
        <p:nvSpPr>
          <p:cNvPr id="127" name="Shape 125"/>
          <p:cNvSpPr/>
          <p:nvPr/>
        </p:nvSpPr>
        <p:spPr>
          <a:xfrm>
            <a:off x="2724912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071012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 txBox="1"/>
          <p:nvPr/>
        </p:nvSpPr>
        <p:spPr>
          <a:xfrm>
            <a:off x="3071012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3718865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064965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 txBox="1"/>
          <p:nvPr/>
        </p:nvSpPr>
        <p:spPr>
          <a:xfrm>
            <a:off x="4064965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4712818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058918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 txBox="1"/>
          <p:nvPr/>
        </p:nvSpPr>
        <p:spPr>
          <a:xfrm>
            <a:off x="5058918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5706770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052871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 txBox="1"/>
          <p:nvPr/>
        </p:nvSpPr>
        <p:spPr>
          <a:xfrm>
            <a:off x="6052871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6700723" y="44256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694676" y="44256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688629" y="44256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682582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9886950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 txBox="1"/>
          <p:nvPr/>
        </p:nvSpPr>
        <p:spPr>
          <a:xfrm>
            <a:off x="9886950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10170414" y="44897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 txBox="1"/>
          <p:nvPr/>
        </p:nvSpPr>
        <p:spPr>
          <a:xfrm>
            <a:off x="10170414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0676534" y="44256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1022635" y="44897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 txBox="1"/>
          <p:nvPr/>
        </p:nvSpPr>
        <p:spPr>
          <a:xfrm>
            <a:off x="11022635" y="44897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0" name="Text 148"/>
          <p:cNvSpPr txBox="1"/>
          <p:nvPr/>
        </p:nvSpPr>
        <p:spPr>
          <a:xfrm>
            <a:off x="548640" y="4846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BPD</a:t>
            </a:r>
            <a:endParaRPr lang="en-US" sz="1150" dirty="0"/>
          </a:p>
        </p:txBody>
      </p:sp>
      <p:sp>
        <p:nvSpPr>
          <p:cNvPr id="151" name="Shape 149"/>
          <p:cNvSpPr/>
          <p:nvPr/>
        </p:nvSpPr>
        <p:spPr>
          <a:xfrm>
            <a:off x="2724912" y="4882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2929280" y="4946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 txBox="1"/>
          <p:nvPr/>
        </p:nvSpPr>
        <p:spPr>
          <a:xfrm>
            <a:off x="2929280" y="4946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4" name="Shape 152"/>
          <p:cNvSpPr/>
          <p:nvPr/>
        </p:nvSpPr>
        <p:spPr>
          <a:xfrm>
            <a:off x="3212744" y="4946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 txBox="1"/>
          <p:nvPr/>
        </p:nvSpPr>
        <p:spPr>
          <a:xfrm>
            <a:off x="3212744" y="4946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3718865" y="48828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3923233" y="49469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 txBox="1"/>
          <p:nvPr/>
        </p:nvSpPr>
        <p:spPr>
          <a:xfrm>
            <a:off x="3923233" y="4946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4206697" y="49469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 txBox="1"/>
          <p:nvPr/>
        </p:nvSpPr>
        <p:spPr>
          <a:xfrm>
            <a:off x="4206697" y="49469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4712818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5706770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700723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7694676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8688629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9682582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10676534" y="48828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 txBox="1"/>
          <p:nvPr/>
        </p:nvSpPr>
        <p:spPr>
          <a:xfrm>
            <a:off x="548640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 / LSB</a:t>
            </a:r>
            <a:endParaRPr lang="en-US" sz="1150" dirty="0"/>
          </a:p>
        </p:txBody>
      </p:sp>
      <p:sp>
        <p:nvSpPr>
          <p:cNvPr id="169" name="Shape 167"/>
          <p:cNvSpPr/>
          <p:nvPr/>
        </p:nvSpPr>
        <p:spPr>
          <a:xfrm>
            <a:off x="2724912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718865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712818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706770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700723" y="5340096"/>
            <a:ext cx="939089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763360" y="5404104"/>
            <a:ext cx="246888" cy="25603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 txBox="1"/>
          <p:nvPr/>
        </p:nvSpPr>
        <p:spPr>
          <a:xfrm>
            <a:off x="6763360" y="5404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6" name="Shape 174"/>
          <p:cNvSpPr/>
          <p:nvPr/>
        </p:nvSpPr>
        <p:spPr>
          <a:xfrm>
            <a:off x="7046824" y="5404104"/>
            <a:ext cx="246888" cy="256032"/>
          </a:xfrm>
          <a:prstGeom prst="rect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 txBox="1"/>
          <p:nvPr/>
        </p:nvSpPr>
        <p:spPr>
          <a:xfrm>
            <a:off x="7046824" y="5404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7330288" y="5404104"/>
            <a:ext cx="246888" cy="25603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 txBox="1"/>
          <p:nvPr/>
        </p:nvSpPr>
        <p:spPr>
          <a:xfrm>
            <a:off x="7330288" y="54041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0" name="Shape 178"/>
          <p:cNvSpPr/>
          <p:nvPr/>
        </p:nvSpPr>
        <p:spPr>
          <a:xfrm>
            <a:off x="7694676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8688629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9682582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10676534" y="5340096"/>
            <a:ext cx="939089" cy="384048"/>
          </a:xfrm>
          <a:prstGeom prst="rect">
            <a:avLst/>
          </a:prstGeom>
          <a:solidFill>
            <a:srgbClr val="F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548640" y="5916168"/>
            <a:ext cx="164592" cy="164592"/>
          </a:xfrm>
          <a:prstGeom prst="rect">
            <a:avLst/>
          </a:prstGeom>
          <a:solidFill>
            <a:srgbClr val="0B5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 txBox="1"/>
          <p:nvPr/>
        </p:nvSpPr>
        <p:spPr>
          <a:xfrm>
            <a:off x="786384" y="5870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1920240" y="5916168"/>
            <a:ext cx="164592" cy="164592"/>
          </a:xfrm>
          <a:prstGeom prst="rect">
            <a:avLst/>
          </a:prstGeom>
          <a:solidFill>
            <a:srgbClr val="3FA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 txBox="1"/>
          <p:nvPr/>
        </p:nvSpPr>
        <p:spPr>
          <a:xfrm>
            <a:off x="2157984" y="5870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3291840" y="5916168"/>
            <a:ext cx="164592" cy="164592"/>
          </a:xfrm>
          <a:prstGeom prst="rect">
            <a:avLst/>
          </a:prstGeom>
          <a:solidFill>
            <a:srgbClr val="5E6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 txBox="1"/>
          <p:nvPr/>
        </p:nvSpPr>
        <p:spPr>
          <a:xfrm>
            <a:off x="3529584" y="5870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100" dirty="0"/>
          </a:p>
        </p:txBody>
      </p:sp>
      <p:sp>
        <p:nvSpPr>
          <p:cNvPr id="190" name="Text 188"/>
          <p:cNvSpPr txBox="1"/>
          <p:nvPr/>
        </p:nvSpPr>
        <p:spPr>
          <a:xfrm>
            <a:off x="4754880" y="5870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kosong berarti tidak ada dokumen untuk kombinasi tersebut.</a:t>
            </a:r>
            <a:endParaRPr lang="en-US" sz="1100" dirty="0"/>
          </a:p>
        </p:txBody>
      </p:sp>
      <p:sp>
        <p:nvSpPr>
          <p:cNvPr id="191" name="Text 189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acuan Bank Indonesia; hasil analisis ScaleJade</a:t>
            </a:r>
            <a:endParaRPr lang="en-US" sz="1000" dirty="0"/>
          </a:p>
        </p:txBody>
      </p:sp>
      <p:sp>
        <p:nvSpPr>
          <p:cNvPr id="1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C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60 dokumen beserta kategori dan kelompoknya (1/3)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7853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Aceh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Banten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Banten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Central Asia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Central Asia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Negara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Syariah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Tabungan Negara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CIMB Niaga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CIMB Niaga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Server-Based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Danamon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Chip-Based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Dompet Anak Bangsa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Server-Based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LSB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Honest Financial Technologies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Jago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Jawa Tengah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Jawa Timur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Jawa Timur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JTrust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&amp; 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Kalimantan Selatan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Kalimantan Timur dan Utara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&amp; 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acuan Bank Indonesia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C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60 dokumen beserta kategori dan kelompoknya (2/3)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7853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Mandiri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Mandiri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Chip-Based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Maspion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Maspion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Maybank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&amp; 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Mega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Mega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Nusa Tenggara Timur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OCBC NISP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Sinarmas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SMBC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Chartered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Chartered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Sulawesi Selatan dan Barat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UOB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UOB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UOB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Remitansi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Yukk Kreasi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Negara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acuan Bank Indonesia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5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 C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60 dokumen beserta kategori dan kelompoknya (3/3)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78536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penyelenggara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CIMB Niaga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0B1F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Jambi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Visionet International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Server-Based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LSB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Central Asia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Jawa Barat dan Banten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China Ltd Cabang Jakarta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&amp; 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Rakyat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Chip-Based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DBS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Jawa Tengah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Mandiri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BUMN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Muamalat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Sumatera Barat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OCBC NISP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OCBC NISP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Multinational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Dompet Harapan Bangsa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Seabank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Airpay International Indonesia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Server-Based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LSB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Sinarmas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Server-Based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Bank SMBC Indonesia Tbk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Kredit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Utama / Swasta Nasional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Pembangunan Daerah Sulawesi Tenggara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Kartu 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F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179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acuan Bank Indonesia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1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2683</Words>
  <Application>Microsoft Macintosh PowerPoint</Application>
  <PresentationFormat>Widescreen</PresentationFormat>
  <Paragraphs>844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Model fine-tuned menemukan 2,3 kali lebih banyak klausa yang benar dibanding gpt-4.1-mini</vt:lpstr>
      <vt:lpstr>Model dilatih dan diuji dengan 60 dokumen yang dirinci Bank Indonesia</vt:lpstr>
      <vt:lpstr>Dokumen dikelompokkan ke dalam 29 kategori: jenis penyelenggara × produk</vt:lpstr>
      <vt:lpstr>Dari 60 dokumen, 39 dipakai untuk melatih model, 4 untuk memantau kemajuan, dan 17 untuk uji akhir</vt:lpstr>
      <vt:lpstr>Model dibangun dari model dasar berbahasa Indonesia, ditambah lapisan khusus berukuran kecil</vt:lpstr>
      <vt:lpstr>Versi terbaik dicapai setelah model membaca seluruh dokumen pelatihan satu kali</vt:lpstr>
      <vt:lpstr>Kedua model diuji dengan cara yang sama; klausa dianggap cocok bila minimal 80% katanya sama</vt:lpstr>
      <vt:lpstr>Model fine-tuned unggul pada ketiga ukuran akurasi</vt:lpstr>
      <vt:lpstr>Model fine-tuned unggul pada 13 dari 17 dokumen uji</vt:lpstr>
      <vt:lpstr>Keunggulan terbesar pada dokumen panjang, tempat gpt-4.1-mini berhenti terlalu dini</vt:lpstr>
      <vt:lpstr>Model fine-tuned menangkap 97% isi dokumen; hanya 3% klausa yang benar-benar hilang</vt:lpstr>
      <vt:lpstr>Langkah berikutnya: menerapkan model dan menambah dokumen berlabel</vt:lpstr>
      <vt:lpstr>Hasil per dokumen uji</vt:lpstr>
      <vt:lpstr>Peta cakupan: seluruh 29 kategori memiliki dokumen pelatihan; 17 di antaranya juga diuji</vt:lpstr>
      <vt:lpstr>Daftar 60 dokumen beserta kategori dan kelompoknya (1/3)</vt:lpstr>
      <vt:lpstr>Daftar 60 dokumen beserta kategori dan kelompoknya (2/3)</vt:lpstr>
      <vt:lpstr>Daftar 60 dokumen beserta kategori dan kelompoknya (3/3)</vt:lpstr>
    </vt:vector>
  </TitlesOfParts>
  <Company>ScaleJade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Ekstraksi Klausa Perjanjian Baku</dc:title>
  <dc:subject>PptxGenJS Presentation</dc:subject>
  <dc:creator>PptxGenJS</dc:creator>
  <cp:lastModifiedBy>Bisma Khomeini</cp:lastModifiedBy>
  <cp:revision>1</cp:revision>
  <dcterms:created xsi:type="dcterms:W3CDTF">2026-10-24T13:33:22Z</dcterms:created>
  <dcterms:modified xsi:type="dcterms:W3CDTF">2026-10-24T13:38:10Z</dcterms:modified>
</cp:coreProperties>
</file>