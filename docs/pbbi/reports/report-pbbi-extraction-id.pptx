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f9a46620-68ca-d0b9-2ade-f3f04623b0cc}">
          <p14:sldIdLst>
            <p14:sldId id="256"/>
          </p14:sldIdLst>
        </p14:section>
        <p14:section name="Ringkasan eksekutif" id="{a19da45d-b96c-cd48-4fc5-719f1f40cab8}">
          <p14:sldIdLst>
            <p14:sldId id="257"/>
          </p14:sldIdLst>
        </p14:section>
        <p14:section name="Persiapan data" id="{9691de12-e2d7-a4b9-e243-f601320d8b66}">
          <p14:sldIdLst>
            <p14:sldId id="258"/>
            <p14:sldId id="259"/>
            <p14:sldId id="260"/>
          </p14:sldIdLst>
        </p14:section>
        <p14:section name="Pelatihan model" id="{d958cfe2-aa9b-30f2-1136-d16aa25935f9}">
          <p14:sldIdLst>
            <p14:sldId id="261"/>
            <p14:sldId id="262"/>
          </p14:sldIdLst>
        </p14:section>
        <p14:section name="Pengukuran akurasi" id="{6ba1be6f-cb85-65ab-96f4-73abc6372246}">
          <p14:sldIdLst>
            <p14:sldId id="263"/>
            <p14:sldId id="264"/>
          </p14:sldIdLst>
        </p14:section>
        <p14:section name="Hasil" id="{13e50057-a366-8008-2e80-4b7345d27017}">
          <p14:sldIdLst>
            <p14:sldId id="265"/>
            <p14:sldId id="266"/>
            <p14:sldId id="267"/>
          </p14:sldIdLst>
        </p14:section>
        <p14:section name="Prospek" id="{816a1a10-e7b8-bbdc-8f47-190f35fbee73}">
          <p14:sldIdLst>
            <p14:sldId id="268"/>
          </p14:sldIdLst>
        </p14:section>
        <p14:section name="Lampiran" id="{282ad95e-672b-7239-083e-e0979d85ab31}">
          <p14:sldIdLst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Ekstraksi Klausa PBBI · Oktober 2026</a:t>
            </a:r>
            <a:endParaRPr lang="en-US" sz="9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7023" y="6428232"/>
            <a:ext cx="256032" cy="248717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0A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73736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dirty="0">
                <a:solidFill>
                  <a:srgbClr val="8CC7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88036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947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5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C7A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dung Bank Indonesi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pic>
        <p:nvPicPr>
          <p:cNvPr id="3" name="Image 1" descr="Logo ScaleJa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66928" cy="548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261872" y="566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ScaleJade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9539935" y="0"/>
            <a:ext cx="2651760" cy="45720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539935" y="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EVALUASI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103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Ekstraksi Klausa Perjanjian Baku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model fine-tuned dibandingkan gpt-4.1-mini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709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resmi untuk Bank Indonesia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35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RINGKASAN EKSEKUTIF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fine-tuned menangkap 2 kali lebih banyak isi klausa Bank Indonesia dibanding gpt-4.1-mini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24028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1284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400" dirty="0"/>
          </a:p>
          <a:p>
            <a:pPr indent="0" marL="0">
              <a:buNone/>
            </a:pPr>
            <a:r>
              <a:rPr lang="en-US" sz="26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kemiripan terhadap klausa Bank Indonesia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74720" cy="224028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103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21284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400" dirty="0"/>
          </a:p>
          <a:p>
            <a:pPr indent="0" marL="0">
              <a:buNone/>
            </a:pPr>
            <a:r>
              <a:rPr lang="en-US" sz="26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kemiripan klausa hasil model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224028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103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0" y="2212848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400" dirty="0"/>
          </a:p>
          <a:p>
            <a:pPr indent="0" marL="0">
              <a:buNone/>
            </a:pPr>
            <a:r>
              <a:rPr lang="en-US" sz="26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gabungan, skala 0–100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864" cy="7315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114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dari 17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uji: skor model fine-tuned lebih tinggi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4160520"/>
            <a:ext cx="54864" cy="7315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480560" y="4114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2,6×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lebih tinggi pada dokumen panjang (200+ klausa)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46720" y="4160520"/>
            <a:ext cx="54864" cy="7315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0" y="4114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dokumen tertangkap; hanya 3% klausa yang benar-benar hilang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11094415" cy="731520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1663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model fine-tuned untuk tahap pertama pemeriksaan Perjanjian Baku, dan tambah dokumen berlabel untuk meningkatkan akurasinya.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53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2026; 17 dokumen uji (2.074 klausa) yang tidak dipakai saat pelatihan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PERSIAPAN DATA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dilatih dan diuji dengan 60 dokumen yang dirinci Bank Indonesia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737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Perjanjian Baku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79192"/>
            <a:ext cx="4846320" cy="0"/>
          </a:xfrm>
          <a:prstGeom prst="line">
            <a:avLst/>
          </a:prstGeom>
          <a:noFill/>
          <a:ln w="9525">
            <a:solidFill>
              <a:srgbClr val="C9CDC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76148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7614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penyelenggara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4846320" cy="0"/>
          </a:xfrm>
          <a:prstGeom prst="line">
            <a:avLst/>
          </a:prstGeom>
          <a:noFill/>
          <a:ln w="9525">
            <a:solidFill>
              <a:srgbClr val="C9CD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785616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7856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produk, dari mobile banking hingga remitansi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27448"/>
            <a:ext cx="4846320" cy="0"/>
          </a:xfrm>
          <a:prstGeom prst="line">
            <a:avLst/>
          </a:prstGeom>
          <a:noFill/>
          <a:ln w="9525">
            <a:solidFill>
              <a:srgbClr val="C9CDC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09744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6.890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480974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klausa dalam data rincian Bank Indonesia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0" y="1737360"/>
            <a:ext cx="5788152" cy="406908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18745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Tugas model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2286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Memecah dokumen menjadi klausa, masing-masing dengan tiga atribut: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743200"/>
            <a:ext cx="1691640" cy="438912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274320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Pasal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74320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pasal dan butir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3291840"/>
            <a:ext cx="1691640" cy="438912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9184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Topik Klausa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29184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singkat isi klausa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0" y="3840480"/>
            <a:ext cx="1691640" cy="438912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26480" y="38404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Bunyi Klausa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384048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 persis seperti dalam dokumen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452628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Klausa yang terlewat tidak akan diperiksa. </a:t>
            </a:r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itu, berapa banyak klausa yang ditemukan model (recall) adalah ukuran terpenting.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rincian Bank Indonesia; hasil analisis ScaleJade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PERSIAPAN DATA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Dokumen dikelompokkan ke dalam 29 kategori: jenis penyelenggara × produk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1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dokumen per jenis penyelenggara (total 60)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Swasta Nasional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34640" y="2154196"/>
            <a:ext cx="3566160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73952" y="2057400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566851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Multinational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834640" y="2663647"/>
            <a:ext cx="2852928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60720" y="2566851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76303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834640" y="3173099"/>
            <a:ext cx="2377440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3076303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85754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BUMN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834640" y="3682550"/>
            <a:ext cx="1901952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9744" y="3585754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95206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Swasta Nasional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834640" y="4192001"/>
            <a:ext cx="1664208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0" y="4095206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04657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BPD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834640" y="4701453"/>
            <a:ext cx="1188720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96512" y="4604657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14109"/>
            <a:ext cx="21488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LSB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5210904"/>
            <a:ext cx="713232" cy="31586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21024" y="5114109"/>
            <a:ext cx="548640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834640" y="2057400"/>
            <a:ext cx="0" cy="3566160"/>
          </a:xfrm>
          <a:prstGeom prst="line">
            <a:avLst/>
          </a:prstGeom>
          <a:noFill/>
          <a:ln w="9525">
            <a:solidFill>
              <a:srgbClr val="0B1F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00200"/>
            <a:ext cx="4462272" cy="420624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06640" y="17373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pengkategorian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21031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penyelenggara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54964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778240" y="21031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92124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0" y="210312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406640" y="30175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Contoh: Bank Pembangunan Daerah Aceh, Mobile Banking → kategori BPD / Mobile Banking.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06640" y="3611880"/>
            <a:ext cx="4023360" cy="0"/>
          </a:xfrm>
          <a:prstGeom prst="line">
            <a:avLst/>
          </a:prstGeom>
          <a:noFill/>
          <a:ln w="9525">
            <a:solidFill>
              <a:srgbClr val="C9CDC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06640" y="370332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penyelenggara utama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Multinational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asing / berkepemilikan asing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BUMN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milik negara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BPD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Pembangunan Daerah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selain bank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acuan Bank Indonesia; klasifikasi yang telah ditetapkan Bank Indonesia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PERSIAPAN DATA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Dari 60 dokumen, 39 dipakai untuk melatih model, 4 untuk memantau kemajuan, dan 17 untuk uji akhir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01168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9659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Pelatihan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 · 4.381 klausa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Satu-satunya kelompok yang dipelajari model.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474720" cy="201168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914400" cy="914400"/>
          </a:xfrm>
          <a:prstGeom prst="ellipse">
            <a:avLst/>
          </a:prstGeom>
          <a:solidFill>
            <a:srgbClr val="3FA3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9659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set · 435 klausa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Memantau kemajuan dan memilih versi terbaik.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201168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20240"/>
            <a:ext cx="914400" cy="914400"/>
          </a:xfrm>
          <a:prstGeom prst="ellipse">
            <a:avLst/>
          </a:prstGeom>
          <a:solidFill>
            <a:srgbClr val="5E666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20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9464040" y="196596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· 2.074 klausa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Dirahasiakan hingga akhir; dasar semua hasil.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aturan pembagian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402336" cy="40233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343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kategori dipelajari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29 kategori memiliki dokumen pelatihan.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297680" y="4343400"/>
            <a:ext cx="402336" cy="40233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9768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343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sebanyak mungkin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kategori juga diuji; 12 lainnya terlalu sedikit dokumennya.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46720" y="4343400"/>
            <a:ext cx="402336" cy="40233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0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595360" y="4343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yang adil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model diuji pada 17 dokumen yang sama persis.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cakupan per kategori: Lampiran B.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rincian Bank Indonesia; hasil analisis ScaleJade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PELATIHAN MODEL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dibangun dari model dasar berbahasa Indonesia, ditambah lapisan khusus berukuran kecil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2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model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194560" cy="91440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560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PDF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dibaca utuh sebagai teks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3017520"/>
            <a:ext cx="731520" cy="0"/>
          </a:xfrm>
          <a:prstGeom prst="line">
            <a:avLst/>
          </a:prstGeom>
          <a:noFill/>
          <a:ln w="15875">
            <a:solidFill>
              <a:srgbClr val="0B1F1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657600" y="2057400"/>
            <a:ext cx="4937760" cy="64008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5760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khusus (LoRA adapter) · 0,3% dari ukuran model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657600" y="2770632"/>
            <a:ext cx="4937760" cy="1051560"/>
          </a:xfrm>
          <a:prstGeom prst="rect">
            <a:avLst/>
          </a:prstGeom>
          <a:solidFill>
            <a:srgbClr val="A8D5C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770632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dasar: Qwen-SEA-LION-v4.5-27B-IT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Singapore (aisingapore/Qwen-SEA-LION-v4.5-27B-IT)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0" y="3017520"/>
            <a:ext cx="731520" cy="0"/>
          </a:xfrm>
          <a:prstGeom prst="line">
            <a:avLst/>
          </a:prstGeom>
          <a:noFill/>
          <a:ln w="15875">
            <a:solidFill>
              <a:srgbClr val="0B1F1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509760" y="2560320"/>
            <a:ext cx="2130552" cy="91440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509760" y="2560320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klausa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· topik · bunyi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3474720" cy="457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343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dasar sudah memahami bahasa Indonesia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terbuka dari AI Singapore untuk bahasa-bahasa Asia Tenggara; tidak dibangun dari nol.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97680" y="4160520"/>
            <a:ext cx="3474720" cy="457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97680" y="4343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lapisan khusus yang dilatih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Belajar dari 39 dokumen utuh (15.000–89.000 token) beserta data rincian Bank Indonesia.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160520"/>
            <a:ext cx="3474720" cy="4572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0" y="43434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Dibaca persis seperti di aplikasi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Pembacaan teks sama dengan aplikasi produksi, sehingga hasil uji mencerminkan penggunaan nyata.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AI Singapore; ScaleJade,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PELATIHAN MODEL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 terbaik dicapai setelah model membaca seluruh dokumen pelatihan satu kali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19072"/>
            <a:ext cx="274320" cy="274320"/>
          </a:xfrm>
          <a:prstGeom prst="ellipse">
            <a:avLst/>
          </a:prstGeom>
          <a:solidFill>
            <a:srgbClr val="8CC7A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69164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yang diukur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hasil model dari data rincian Bank Indonesia pada 4 dokumen validasi. Makin rendah, makin baik.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74320" cy="274320"/>
          </a:xfrm>
          <a:prstGeom prst="ellipse">
            <a:avLst/>
          </a:prstGeom>
          <a:solidFill>
            <a:srgbClr val="8CC7A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715768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4–16: belajar cepat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turun dari 0,33 ke 0,25.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67328"/>
            <a:ext cx="274320" cy="274320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739896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20: titik terbaik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terendah (0,244); setara membaca 39 dokumen pelatihan satu kali (1 langkah = 2 dokumen).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91456"/>
            <a:ext cx="274320" cy="274320"/>
          </a:xfrm>
          <a:prstGeom prst="ellipse">
            <a:avLst/>
          </a:prstGeom>
          <a:solidFill>
            <a:srgbClr val="8CC7A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764024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langkah 20: mulai menghafal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naik tipis, jadi versi langkah 20 yang disimpan.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645920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3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pada dokumen validasi selama pelatihan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49240" y="5303520"/>
            <a:ext cx="6126480" cy="0"/>
          </a:xfrm>
          <a:prstGeom prst="line">
            <a:avLst/>
          </a:prstGeom>
          <a:noFill/>
          <a:ln w="9525">
            <a:solidFill>
              <a:srgbClr val="0B1F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51846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49240" y="4251960"/>
            <a:ext cx="6126480" cy="0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41330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49240" y="3200400"/>
            <a:ext cx="6126480" cy="0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3081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49240" y="2148840"/>
            <a:ext cx="6126480" cy="0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029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26964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039612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652260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264908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77556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90204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02852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715500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328148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940796" y="5349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349240" y="5596128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pelatihan (step)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106156" y="2148840"/>
            <a:ext cx="0" cy="3154680"/>
          </a:xfrm>
          <a:prstGeom prst="line">
            <a:avLst/>
          </a:prstGeom>
          <a:noFill/>
          <a:ln w="12700">
            <a:solidFill>
              <a:srgbClr val="0B5E45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655564" y="2516886"/>
            <a:ext cx="612648" cy="1209294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68212" y="3726180"/>
            <a:ext cx="612648" cy="736092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80860" y="4462272"/>
            <a:ext cx="612648" cy="184023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93508" y="4646295"/>
            <a:ext cx="612648" cy="36805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8106156" y="4664697"/>
            <a:ext cx="612648" cy="18402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8718804" y="4643666"/>
            <a:ext cx="612648" cy="21031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9331452" y="4609490"/>
            <a:ext cx="612648" cy="34176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944100" y="4596346"/>
            <a:ext cx="612648" cy="13144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556748" y="4588459"/>
            <a:ext cx="612648" cy="7887"/>
          </a:xfrm>
          <a:prstGeom prst="line">
            <a:avLst/>
          </a:prstGeom>
          <a:noFill/>
          <a:ln w="31750">
            <a:solidFill>
              <a:srgbClr val="0B5E4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00700" y="2462022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3348" y="3671316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48" name="Shape 46"/>
          <p:cNvSpPr/>
          <p:nvPr/>
        </p:nvSpPr>
        <p:spPr>
          <a:xfrm>
            <a:off x="6825996" y="4407408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49" name="Shape 47"/>
          <p:cNvSpPr/>
          <p:nvPr/>
        </p:nvSpPr>
        <p:spPr>
          <a:xfrm>
            <a:off x="7438644" y="4591431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0" name="Shape 48"/>
          <p:cNvSpPr/>
          <p:nvPr/>
        </p:nvSpPr>
        <p:spPr>
          <a:xfrm>
            <a:off x="8014716" y="45916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B5E4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663940" y="4609833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2" name="Shape 50"/>
          <p:cNvSpPr/>
          <p:nvPr/>
        </p:nvSpPr>
        <p:spPr>
          <a:xfrm>
            <a:off x="9276588" y="4588802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3" name="Shape 51"/>
          <p:cNvSpPr/>
          <p:nvPr/>
        </p:nvSpPr>
        <p:spPr>
          <a:xfrm>
            <a:off x="9889236" y="4554626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4" name="Shape 52"/>
          <p:cNvSpPr/>
          <p:nvPr/>
        </p:nvSpPr>
        <p:spPr>
          <a:xfrm>
            <a:off x="10501884" y="4541482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5" name="Shape 53"/>
          <p:cNvSpPr/>
          <p:nvPr/>
        </p:nvSpPr>
        <p:spPr>
          <a:xfrm>
            <a:off x="11114532" y="4533595"/>
            <a:ext cx="109728" cy="109728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6" name="Shape 54"/>
          <p:cNvSpPr/>
          <p:nvPr/>
        </p:nvSpPr>
        <p:spPr>
          <a:xfrm>
            <a:off x="8289036" y="2286000"/>
            <a:ext cx="3931920" cy="68580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426196" y="22860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terbaik: langkah 20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dirilis sebagai model fine-tuned v0.1.3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Log pelatihan ScaleJade,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PENGUKURAN AKURASI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Kedua model diuji dengan cara yang sama; setiap klausa diberi skor kemiripan Jaccard 0–1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54864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dokumen uji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032504" y="1965960"/>
            <a:ext cx="292608" cy="0"/>
          </a:xfrm>
          <a:prstGeom prst="line">
            <a:avLst/>
          </a:prstGeom>
          <a:noFill/>
          <a:ln w="15875">
            <a:solidFill>
              <a:srgbClr val="0B1F1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9976" y="1691640"/>
            <a:ext cx="3429000" cy="548640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79976" y="1691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 &amp; gpt-4.1-mini, instruksi sama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863840" y="1965960"/>
            <a:ext cx="292608" cy="0"/>
          </a:xfrm>
          <a:prstGeom prst="line">
            <a:avLst/>
          </a:prstGeom>
          <a:noFill/>
          <a:ln w="15875">
            <a:solidFill>
              <a:srgbClr val="0B1F1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211312" y="1691640"/>
            <a:ext cx="3429000" cy="54864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11312" y="16916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Dinilai terhadap data rincian Bank Indonesia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23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kemiripan: </a:t>
            </a:r>
            <a:pPr indent="0" marL="0">
              <a:buNone/>
            </a:pPr>
            <a:r>
              <a:rPr lang="en-US" sz="13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 yang sama ÷ seluruh kata unik (0–1). Tiap klausa dipasangkan sekali; klausa yang tidak ditemukan bernilai 0.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11094415" cy="685800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834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C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Klausa Bank Indonesia 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wajib menjaga kerahasiaan PIN dan tidak memberitahukan PIN kepada pihak mana pun, termasuk petugas Bank.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3611880" cy="2103120"/>
          </a:xfrm>
          <a:prstGeom prst="rect">
            <a:avLst/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1,00  </a:t>
            </a:r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Tanda baca berbeda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1148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wajib menjaga kerahasiaan PIN, dan tidak memberitahukan PIN kepada pihak mana pun termasuk petugas Bank.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3035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penuh: semua kata sama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97680" y="3657600"/>
            <a:ext cx="3611880" cy="210312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2628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0,68  </a:t>
            </a:r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klausa digabung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1148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wajib menjaga kerahasiaan PIN … petugas Bank. </a:t>
            </a:r>
            <a:pPr indent="0" marL="0">
              <a:buNone/>
            </a:pPr>
            <a:r>
              <a:rPr lang="en-US" sz="1200" i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Segala kerugian akibat kelalaian Nasabah menjadi tanggung jawab Nasabah.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3035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Kalimat tambahan menurunkan skor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46720" y="3657600"/>
            <a:ext cx="3611880" cy="210312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75320" y="376732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0,33  </a:t>
            </a:r>
            <a:pPr indent="0" marL="0">
              <a:buNone/>
            </a:pPr>
            <a:r>
              <a:rPr lang="en-US" sz="13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klausa dipecah dua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1148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wajib menjaga kerahasiaan PIN.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53035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sebagian klausa: skor rendah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521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Klausa contoh dibuat untuk ilustrasi dan tidak dikutip dari dokumen mana pun.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PENGUKURAN AKURASI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fine-tuned unggul pada ketiga ukuran akurasi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640080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474720" cy="356616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“Apakah semua klausa ditemukan?”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skor ÷ klausa Bank Indonesia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  ·  1.469 ÷ 2.074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685032"/>
            <a:ext cx="1590599" cy="38404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86711" y="36393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 ·  724 ÷ 2.074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873752"/>
            <a:ext cx="784098" cy="384048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80210" y="48280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297680" y="1691640"/>
            <a:ext cx="3474720" cy="640080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297680" y="2331720"/>
            <a:ext cx="3474720" cy="356616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“Apakah hasil model benar?”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34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skor ÷ klausa yang dihasilkan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  ·  1.469 ÷ 1.741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3685032"/>
            <a:ext cx="1881835" cy="38404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6987" y="36393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 ·  724 ÷ 929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4873752"/>
            <a:ext cx="1747418" cy="384048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92570" y="48280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8046720" y="1691640"/>
            <a:ext cx="3474720" cy="640080"/>
          </a:xfrm>
          <a:prstGeom prst="rect">
            <a:avLst/>
          </a:prstGeom>
          <a:solidFill>
            <a:srgbClr val="0A2E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2104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Score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046720" y="2331720"/>
            <a:ext cx="3474720" cy="356616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“Satu skor keseluruhan (0–100)”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834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P × R ÷ (P + R)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321040" y="3685032"/>
            <a:ext cx="1725016" cy="38404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119208" y="36393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526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21040" y="4873752"/>
            <a:ext cx="1075334" cy="384048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69526" y="48280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80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paling penting: klausa yang tidak ditemukan tidak akan diperiksa. Klausa yang hampir persis sama (skor ≥ 0,80): 1.365 vs 587.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2026; 17 dokumen uji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HASIL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fine-tuned unggul pada 13 dari 17 dokumen uji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4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per dokumen (0–100), diurutkan menurut selisih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37560" y="2057400"/>
            <a:ext cx="0" cy="3652114"/>
          </a:xfrm>
          <a:prstGeom prst="line">
            <a:avLst/>
          </a:prstGeom>
          <a:noFill/>
          <a:ln w="9525">
            <a:solidFill>
              <a:srgbClr val="0B1F1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108960" y="1828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52010" y="2057400"/>
            <a:ext cx="0" cy="3652114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23410" y="1828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66460" y="2057400"/>
            <a:ext cx="0" cy="3652114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37860" y="1828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80910" y="2057400"/>
            <a:ext cx="0" cy="3652114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52310" y="1828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2057400"/>
            <a:ext cx="0" cy="3652114"/>
          </a:xfrm>
          <a:prstGeom prst="line">
            <a:avLst/>
          </a:prstGeom>
          <a:noFill/>
          <a:ln w="6350">
            <a:solidFill>
              <a:srgbClr val="E4E6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66760" y="18288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18105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18105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0469880" y="18105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103120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2103120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SINARMAS UE Server-Based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62322" y="2209190"/>
            <a:ext cx="315468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8314" y="2145182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22" name="Shape 20"/>
          <p:cNvSpPr/>
          <p:nvPr/>
        </p:nvSpPr>
        <p:spPr>
          <a:xfrm>
            <a:off x="7952994" y="2145182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23960" y="210312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646920" y="210312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469880" y="210312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315261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SEABANK Mobile Banking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99432" y="2421331"/>
            <a:ext cx="289179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35424" y="2357323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29" name="Shape 27"/>
          <p:cNvSpPr/>
          <p:nvPr/>
        </p:nvSpPr>
        <p:spPr>
          <a:xfrm>
            <a:off x="7427214" y="2357323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823960" y="231526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231526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469880" y="231526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2527402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2527402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BJB Mobile Banking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808" y="2633472"/>
            <a:ext cx="289179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0" y="2569464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37" name="Shape 35"/>
          <p:cNvSpPr/>
          <p:nvPr/>
        </p:nvSpPr>
        <p:spPr>
          <a:xfrm>
            <a:off x="7006590" y="2569464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823960" y="252740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646920" y="252740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469880" y="252740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2739542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OCBC Kartu Kredit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441698" y="2845613"/>
            <a:ext cx="2786634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7690" y="2781605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44" name="Shape 42"/>
          <p:cNvSpPr/>
          <p:nvPr/>
        </p:nvSpPr>
        <p:spPr>
          <a:xfrm>
            <a:off x="7164324" y="2781605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823960" y="273954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646920" y="273954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469880" y="273954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+53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48640" y="2951683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48640" y="2951683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 Payment Gateway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98414" y="3057754"/>
            <a:ext cx="2208276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34406" y="2993746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52" name="Shape 50"/>
          <p:cNvSpPr/>
          <p:nvPr/>
        </p:nvSpPr>
        <p:spPr>
          <a:xfrm>
            <a:off x="7742682" y="2993746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823960" y="295168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646920" y="295168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469880" y="295168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3163824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SMBC Kartu Kredit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703570" y="3269894"/>
            <a:ext cx="157734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39562" y="3205886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59" name="Shape 57"/>
          <p:cNvSpPr/>
          <p:nvPr/>
        </p:nvSpPr>
        <p:spPr>
          <a:xfrm>
            <a:off x="7216902" y="3205886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823960" y="3163824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61" name="Text 59"/>
          <p:cNvSpPr txBox="1"/>
          <p:nvPr/>
        </p:nvSpPr>
        <p:spPr>
          <a:xfrm>
            <a:off x="9646920" y="3163824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10469880" y="3163824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48640" y="3375965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48640" y="3375965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SHOPEEPAY UE Server-Based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861304" y="3482035"/>
            <a:ext cx="1367028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797296" y="3418027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67" name="Shape 65"/>
          <p:cNvSpPr/>
          <p:nvPr/>
        </p:nvSpPr>
        <p:spPr>
          <a:xfrm>
            <a:off x="7164324" y="3418027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823960" y="3375965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9646920" y="3375965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10469880" y="3375965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588106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MANDIRI Mobile Banking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175754" y="3694176"/>
            <a:ext cx="1104138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111746" y="3630168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74" name="Shape 72"/>
          <p:cNvSpPr/>
          <p:nvPr/>
        </p:nvSpPr>
        <p:spPr>
          <a:xfrm>
            <a:off x="8215884" y="3630168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23960" y="358810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9646920" y="358810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10469880" y="358810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48640" y="3800246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48640" y="3800246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 Mobile Banking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6387084" y="3906317"/>
            <a:ext cx="105156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323076" y="3842309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74636" y="3842309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8823960" y="380024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9646920" y="380024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10469880" y="3800246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548640" y="4012387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BCA Kartu Debit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8332" y="4118458"/>
            <a:ext cx="946404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64324" y="4054450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89" name="Shape 87"/>
          <p:cNvSpPr/>
          <p:nvPr/>
        </p:nvSpPr>
        <p:spPr>
          <a:xfrm>
            <a:off x="8110728" y="4054450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823960" y="4012387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9646920" y="4012387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10469880" y="4012387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548640" y="4224528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48640" y="4224528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MUAMALAT Internet Banking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701534" y="4330598"/>
            <a:ext cx="841248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37526" y="4266590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97" name="Shape 95"/>
          <p:cNvSpPr/>
          <p:nvPr/>
        </p:nvSpPr>
        <p:spPr>
          <a:xfrm>
            <a:off x="8478774" y="4266590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823960" y="4224528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  <p:sp>
        <p:nvSpPr>
          <p:cNvPr id="99" name="Text 97"/>
          <p:cNvSpPr txBox="1"/>
          <p:nvPr/>
        </p:nvSpPr>
        <p:spPr>
          <a:xfrm>
            <a:off x="9646920" y="4224528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10469880" y="4224528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</a:t>
            </a:r>
            <a:endParaRPr lang="en-US" sz="1000" dirty="0"/>
          </a:p>
        </p:txBody>
      </p:sp>
      <p:sp>
        <p:nvSpPr>
          <p:cNvPr id="101" name="Text 99"/>
          <p:cNvSpPr txBox="1"/>
          <p:nvPr/>
        </p:nvSpPr>
        <p:spPr>
          <a:xfrm>
            <a:off x="548640" y="4436669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 Mobile &amp; Internet Banking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756148" y="4542739"/>
            <a:ext cx="525780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692140" y="4478731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217920" y="4478731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823960" y="4436669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9646920" y="4436669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107" name="Text 105"/>
          <p:cNvSpPr txBox="1"/>
          <p:nvPr/>
        </p:nvSpPr>
        <p:spPr>
          <a:xfrm>
            <a:off x="10469880" y="4436669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548640" y="4648810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548640" y="4648810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NAGARI Mobile Banking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7491222" y="4754880"/>
            <a:ext cx="473202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427214" y="4690872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900416" y="4690872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8823960" y="464881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114" name="Text 112"/>
          <p:cNvSpPr txBox="1"/>
          <p:nvPr/>
        </p:nvSpPr>
        <p:spPr>
          <a:xfrm>
            <a:off x="9646920" y="464881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10469880" y="464881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4860950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SULTRA Kartu Debit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806690" y="4967021"/>
            <a:ext cx="210312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952994" y="4903013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42682" y="4903013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8823960" y="486095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121" name="Text 119"/>
          <p:cNvSpPr txBox="1"/>
          <p:nvPr/>
        </p:nvSpPr>
        <p:spPr>
          <a:xfrm>
            <a:off x="9646920" y="486095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122" name="Text 120"/>
          <p:cNvSpPr txBox="1"/>
          <p:nvPr/>
        </p:nvSpPr>
        <p:spPr>
          <a:xfrm>
            <a:off x="10469880" y="4860950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548640" y="5073091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548640" y="5073091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JATENG Kartu Debit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8279892" y="5179162"/>
            <a:ext cx="315468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8531352" y="5115154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215884" y="5115154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823960" y="507309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  <p:sp>
        <p:nvSpPr>
          <p:cNvPr id="129" name="Text 127"/>
          <p:cNvSpPr txBox="1"/>
          <p:nvPr/>
        </p:nvSpPr>
        <p:spPr>
          <a:xfrm>
            <a:off x="9646920" y="507309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30" name="Text 128"/>
          <p:cNvSpPr txBox="1"/>
          <p:nvPr/>
        </p:nvSpPr>
        <p:spPr>
          <a:xfrm>
            <a:off x="10469880" y="5073091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00" dirty="0"/>
          </a:p>
        </p:txBody>
      </p:sp>
      <p:sp>
        <p:nvSpPr>
          <p:cNvPr id="131" name="Text 129"/>
          <p:cNvSpPr txBox="1"/>
          <p:nvPr/>
        </p:nvSpPr>
        <p:spPr>
          <a:xfrm>
            <a:off x="548640" y="5285232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OCBC Internet Banking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6019038" y="5391302"/>
            <a:ext cx="315468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270498" y="5327294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55030" y="5327294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823960" y="528523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136" name="Text 134"/>
          <p:cNvSpPr txBox="1"/>
          <p:nvPr/>
        </p:nvSpPr>
        <p:spPr>
          <a:xfrm>
            <a:off x="9646920" y="528523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137" name="Text 135"/>
          <p:cNvSpPr txBox="1"/>
          <p:nvPr/>
        </p:nvSpPr>
        <p:spPr>
          <a:xfrm>
            <a:off x="10469880" y="5285232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48640" y="5497373"/>
            <a:ext cx="10744200" cy="212141"/>
          </a:xfrm>
          <a:prstGeom prst="rect">
            <a:avLst/>
          </a:prstGeom>
          <a:solidFill>
            <a:srgbClr val="F6F7F4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548640" y="5497373"/>
            <a:ext cx="26517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 UE Chip-Based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7701534" y="5603443"/>
            <a:ext cx="368046" cy="0"/>
          </a:xfrm>
          <a:prstGeom prst="line">
            <a:avLst/>
          </a:prstGeom>
          <a:noFill/>
          <a:ln w="25400">
            <a:solidFill>
              <a:srgbClr val="B9BDB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005572" y="5539435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637526" y="5539435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823960" y="549737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144" name="Text 142"/>
          <p:cNvSpPr txBox="1"/>
          <p:nvPr/>
        </p:nvSpPr>
        <p:spPr>
          <a:xfrm>
            <a:off x="9646920" y="549737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  <p:sp>
        <p:nvSpPr>
          <p:cNvPr id="145" name="Text 143"/>
          <p:cNvSpPr txBox="1"/>
          <p:nvPr/>
        </p:nvSpPr>
        <p:spPr>
          <a:xfrm>
            <a:off x="10469880" y="5497373"/>
            <a:ext cx="822960" cy="21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4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557784" y="5864962"/>
            <a:ext cx="128016" cy="128016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749808" y="580095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</a:t>
            </a:r>
            <a:endParaRPr lang="en-US" sz="1050" dirty="0"/>
          </a:p>
        </p:txBody>
      </p:sp>
      <p:sp>
        <p:nvSpPr>
          <p:cNvPr id="148" name="Shape 146"/>
          <p:cNvSpPr/>
          <p:nvPr/>
        </p:nvSpPr>
        <p:spPr>
          <a:xfrm>
            <a:off x="2203704" y="5864962"/>
            <a:ext cx="128016" cy="128016"/>
          </a:xfrm>
          <a:prstGeom prst="ellipse">
            <a:avLst/>
          </a:prstGeom>
          <a:solidFill>
            <a:srgbClr val="B9BDB6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2395728" y="580095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050" dirty="0"/>
          </a:p>
        </p:txBody>
      </p:sp>
      <p:sp>
        <p:nvSpPr>
          <p:cNvPr id="150" name="Text 148"/>
          <p:cNvSpPr txBox="1"/>
          <p:nvPr/>
        </p:nvSpPr>
        <p:spPr>
          <a:xfrm>
            <a:off x="3749040" y="5800954"/>
            <a:ext cx="7894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unggul tipis (≤ 7 poin) pada 4 dokumen, 3 di antaranya dokumen pendek. Keunggulan model fine-tuned bertahan di 6 dari 8 produk dan seluruh 7 jenis penyelenggara.</a:t>
            </a:r>
            <a:endParaRPr lang="en-US" sz="1050" dirty="0"/>
          </a:p>
        </p:txBody>
      </p:sp>
      <p:sp>
        <p:nvSpPr>
          <p:cNvPr id="151" name="Text 149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2026. Rincian per dokumen: Lampiran 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HASIL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Keunggulan terbesar pada dokumen panjang, tempat gpt-4.1-mini berhenti terlalu dini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5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(rata-rata kemiripan, 0–100), menurut panjang dokumen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20824"/>
            <a:ext cx="146304" cy="146304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2020824"/>
            <a:ext cx="146304" cy="146304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88336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5257800"/>
            <a:ext cx="6309360" cy="0"/>
          </a:xfrm>
          <a:prstGeom prst="line">
            <a:avLst/>
          </a:prstGeom>
          <a:noFill/>
          <a:ln w="9525">
            <a:solidFill>
              <a:srgbClr val="0B1F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0392" y="2953512"/>
            <a:ext cx="713232" cy="230428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" y="26060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36776" y="3803904"/>
            <a:ext cx="713232" cy="1453896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36776" y="3456432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8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309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100 klausa · 10 dok.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953512" y="3502152"/>
            <a:ext cx="713232" cy="175564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953512" y="315468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39896" y="4325112"/>
            <a:ext cx="713232" cy="932688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39896" y="3977640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8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53309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Sedang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100–199 klausa · 3 dok.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56632" y="3419856"/>
            <a:ext cx="713232" cy="1837944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56632" y="3072384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843016" y="4544568"/>
            <a:ext cx="713232" cy="713232"/>
          </a:xfrm>
          <a:prstGeom prst="rect">
            <a:avLst/>
          </a:prstGeom>
          <a:solidFill>
            <a:srgbClr val="B9BDB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43016" y="4197096"/>
            <a:ext cx="713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8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533095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Panjang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klausa · 4 dok.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15200" y="1600200"/>
            <a:ext cx="4325112" cy="425196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589520" y="178308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45% vs 84%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klausa yang dihasilkan, dibanding data rincian Bank Indonesia (gpt-4.1-mini vs model fine-tuned)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per dokumen (0–100)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3657600"/>
          <a:ext cx="3840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  <a:gridCol w="50292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SEABANK Mobile Banking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5E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OCBC Kartu Kredit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5E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BJB Mobile Banking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B5E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589520" y="5074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mengakhiri jawabannya sendiri; jawabannya tidak terpotong.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2026. FT = model fine-tuned.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HASIL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fine-tuned menangkap 97% isi dokumen; hanya 3% klausa yang benar-benar hilang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6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100 klausa dalam data rincian Bank Indonesia, menurut hasil model fine-tuned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" name="Shape 4"/>
          <p:cNvSpPr/>
          <p:nvPr/>
        </p:nvSpPr>
        <p:spPr>
          <a:xfrm>
            <a:off x="905256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" name="Shape 5"/>
          <p:cNvSpPr/>
          <p:nvPr/>
        </p:nvSpPr>
        <p:spPr>
          <a:xfrm>
            <a:off x="1261872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8" name="Shape 6"/>
          <p:cNvSpPr/>
          <p:nvPr/>
        </p:nvSpPr>
        <p:spPr>
          <a:xfrm>
            <a:off x="1618488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9" name="Shape 7"/>
          <p:cNvSpPr/>
          <p:nvPr/>
        </p:nvSpPr>
        <p:spPr>
          <a:xfrm>
            <a:off x="1975104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1720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" name="Shape 9"/>
          <p:cNvSpPr/>
          <p:nvPr/>
        </p:nvSpPr>
        <p:spPr>
          <a:xfrm>
            <a:off x="2688336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2" name="Shape 10"/>
          <p:cNvSpPr/>
          <p:nvPr/>
        </p:nvSpPr>
        <p:spPr>
          <a:xfrm>
            <a:off x="3044952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1568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4" name="Shape 12"/>
          <p:cNvSpPr/>
          <p:nvPr/>
        </p:nvSpPr>
        <p:spPr>
          <a:xfrm>
            <a:off x="3758184" y="210312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6" name="Shape 14"/>
          <p:cNvSpPr/>
          <p:nvPr/>
        </p:nvSpPr>
        <p:spPr>
          <a:xfrm>
            <a:off x="905256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1872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8" name="Shape 16"/>
          <p:cNvSpPr/>
          <p:nvPr/>
        </p:nvSpPr>
        <p:spPr>
          <a:xfrm>
            <a:off x="1618488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9" name="Shape 17"/>
          <p:cNvSpPr/>
          <p:nvPr/>
        </p:nvSpPr>
        <p:spPr>
          <a:xfrm>
            <a:off x="1975104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0" name="Shape 18"/>
          <p:cNvSpPr/>
          <p:nvPr/>
        </p:nvSpPr>
        <p:spPr>
          <a:xfrm>
            <a:off x="2331720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8336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4952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68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8184" y="245973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6" name="Shape 24"/>
          <p:cNvSpPr/>
          <p:nvPr/>
        </p:nvSpPr>
        <p:spPr>
          <a:xfrm>
            <a:off x="905256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1872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8" name="Shape 26"/>
          <p:cNvSpPr/>
          <p:nvPr/>
        </p:nvSpPr>
        <p:spPr>
          <a:xfrm>
            <a:off x="1618488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5104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0" name="Shape 28"/>
          <p:cNvSpPr/>
          <p:nvPr/>
        </p:nvSpPr>
        <p:spPr>
          <a:xfrm>
            <a:off x="2331720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8336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2" name="Shape 30"/>
          <p:cNvSpPr/>
          <p:nvPr/>
        </p:nvSpPr>
        <p:spPr>
          <a:xfrm>
            <a:off x="3044952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01568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4" name="Shape 32"/>
          <p:cNvSpPr/>
          <p:nvPr/>
        </p:nvSpPr>
        <p:spPr>
          <a:xfrm>
            <a:off x="3758184" y="2816352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5" name="Shape 33"/>
          <p:cNvSpPr/>
          <p:nvPr/>
        </p:nvSpPr>
        <p:spPr>
          <a:xfrm>
            <a:off x="548640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6" name="Shape 34"/>
          <p:cNvSpPr/>
          <p:nvPr/>
        </p:nvSpPr>
        <p:spPr>
          <a:xfrm>
            <a:off x="905256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1872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8" name="Shape 36"/>
          <p:cNvSpPr/>
          <p:nvPr/>
        </p:nvSpPr>
        <p:spPr>
          <a:xfrm>
            <a:off x="1618488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9" name="Shape 37"/>
          <p:cNvSpPr/>
          <p:nvPr/>
        </p:nvSpPr>
        <p:spPr>
          <a:xfrm>
            <a:off x="1975104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0" name="Shape 38"/>
          <p:cNvSpPr/>
          <p:nvPr/>
        </p:nvSpPr>
        <p:spPr>
          <a:xfrm>
            <a:off x="2331720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1" name="Shape 39"/>
          <p:cNvSpPr/>
          <p:nvPr/>
        </p:nvSpPr>
        <p:spPr>
          <a:xfrm>
            <a:off x="2688336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2" name="Shape 40"/>
          <p:cNvSpPr/>
          <p:nvPr/>
        </p:nvSpPr>
        <p:spPr>
          <a:xfrm>
            <a:off x="3044952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3" name="Shape 41"/>
          <p:cNvSpPr/>
          <p:nvPr/>
        </p:nvSpPr>
        <p:spPr>
          <a:xfrm>
            <a:off x="3401568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4" name="Shape 42"/>
          <p:cNvSpPr/>
          <p:nvPr/>
        </p:nvSpPr>
        <p:spPr>
          <a:xfrm>
            <a:off x="3758184" y="3172968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6" name="Shape 44"/>
          <p:cNvSpPr/>
          <p:nvPr/>
        </p:nvSpPr>
        <p:spPr>
          <a:xfrm>
            <a:off x="905256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7" name="Shape 45"/>
          <p:cNvSpPr/>
          <p:nvPr/>
        </p:nvSpPr>
        <p:spPr>
          <a:xfrm>
            <a:off x="1261872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8" name="Shape 46"/>
          <p:cNvSpPr/>
          <p:nvPr/>
        </p:nvSpPr>
        <p:spPr>
          <a:xfrm>
            <a:off x="1618488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9" name="Shape 47"/>
          <p:cNvSpPr/>
          <p:nvPr/>
        </p:nvSpPr>
        <p:spPr>
          <a:xfrm>
            <a:off x="1975104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0" name="Shape 48"/>
          <p:cNvSpPr/>
          <p:nvPr/>
        </p:nvSpPr>
        <p:spPr>
          <a:xfrm>
            <a:off x="2331720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1" name="Shape 49"/>
          <p:cNvSpPr/>
          <p:nvPr/>
        </p:nvSpPr>
        <p:spPr>
          <a:xfrm>
            <a:off x="2688336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2" name="Shape 50"/>
          <p:cNvSpPr/>
          <p:nvPr/>
        </p:nvSpPr>
        <p:spPr>
          <a:xfrm>
            <a:off x="3044952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01568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4" name="Shape 52"/>
          <p:cNvSpPr/>
          <p:nvPr/>
        </p:nvSpPr>
        <p:spPr>
          <a:xfrm>
            <a:off x="3758184" y="3529584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6" name="Shape 54"/>
          <p:cNvSpPr/>
          <p:nvPr/>
        </p:nvSpPr>
        <p:spPr>
          <a:xfrm>
            <a:off x="905256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1872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8" name="Shape 56"/>
          <p:cNvSpPr/>
          <p:nvPr/>
        </p:nvSpPr>
        <p:spPr>
          <a:xfrm>
            <a:off x="1618488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9" name="Shape 57"/>
          <p:cNvSpPr/>
          <p:nvPr/>
        </p:nvSpPr>
        <p:spPr>
          <a:xfrm>
            <a:off x="1975104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0" name="Shape 58"/>
          <p:cNvSpPr/>
          <p:nvPr/>
        </p:nvSpPr>
        <p:spPr>
          <a:xfrm>
            <a:off x="2331720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1" name="Shape 59"/>
          <p:cNvSpPr/>
          <p:nvPr/>
        </p:nvSpPr>
        <p:spPr>
          <a:xfrm>
            <a:off x="2688336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2" name="Shape 60"/>
          <p:cNvSpPr/>
          <p:nvPr/>
        </p:nvSpPr>
        <p:spPr>
          <a:xfrm>
            <a:off x="3044952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3" name="Shape 61"/>
          <p:cNvSpPr/>
          <p:nvPr/>
        </p:nvSpPr>
        <p:spPr>
          <a:xfrm>
            <a:off x="3401568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4" name="Shape 62"/>
          <p:cNvSpPr/>
          <p:nvPr/>
        </p:nvSpPr>
        <p:spPr>
          <a:xfrm>
            <a:off x="3758184" y="3886200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5" name="Shape 63"/>
          <p:cNvSpPr/>
          <p:nvPr/>
        </p:nvSpPr>
        <p:spPr>
          <a:xfrm>
            <a:off x="548640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6" name="Shape 64"/>
          <p:cNvSpPr/>
          <p:nvPr/>
        </p:nvSpPr>
        <p:spPr>
          <a:xfrm>
            <a:off x="905256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7" name="Shape 65"/>
          <p:cNvSpPr/>
          <p:nvPr/>
        </p:nvSpPr>
        <p:spPr>
          <a:xfrm>
            <a:off x="1261872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8" name="Shape 66"/>
          <p:cNvSpPr/>
          <p:nvPr/>
        </p:nvSpPr>
        <p:spPr>
          <a:xfrm>
            <a:off x="1618488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9" name="Shape 67"/>
          <p:cNvSpPr/>
          <p:nvPr/>
        </p:nvSpPr>
        <p:spPr>
          <a:xfrm>
            <a:off x="1975104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0" name="Shape 68"/>
          <p:cNvSpPr/>
          <p:nvPr/>
        </p:nvSpPr>
        <p:spPr>
          <a:xfrm>
            <a:off x="2331720" y="4242816"/>
            <a:ext cx="301752" cy="30175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1" name="Shape 69"/>
          <p:cNvSpPr/>
          <p:nvPr/>
        </p:nvSpPr>
        <p:spPr>
          <a:xfrm>
            <a:off x="2688336" y="4242816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2" name="Shape 70"/>
          <p:cNvSpPr/>
          <p:nvPr/>
        </p:nvSpPr>
        <p:spPr>
          <a:xfrm>
            <a:off x="3044952" y="4242816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3" name="Shape 71"/>
          <p:cNvSpPr/>
          <p:nvPr/>
        </p:nvSpPr>
        <p:spPr>
          <a:xfrm>
            <a:off x="3401568" y="4242816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4" name="Shape 72"/>
          <p:cNvSpPr/>
          <p:nvPr/>
        </p:nvSpPr>
        <p:spPr>
          <a:xfrm>
            <a:off x="3758184" y="4242816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6" name="Shape 74"/>
          <p:cNvSpPr/>
          <p:nvPr/>
        </p:nvSpPr>
        <p:spPr>
          <a:xfrm>
            <a:off x="905256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7" name="Shape 75"/>
          <p:cNvSpPr/>
          <p:nvPr/>
        </p:nvSpPr>
        <p:spPr>
          <a:xfrm>
            <a:off x="1261872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8" name="Shape 76"/>
          <p:cNvSpPr/>
          <p:nvPr/>
        </p:nvSpPr>
        <p:spPr>
          <a:xfrm>
            <a:off x="1618488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79" name="Shape 77"/>
          <p:cNvSpPr/>
          <p:nvPr/>
        </p:nvSpPr>
        <p:spPr>
          <a:xfrm>
            <a:off x="1975104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0" name="Shape 78"/>
          <p:cNvSpPr/>
          <p:nvPr/>
        </p:nvSpPr>
        <p:spPr>
          <a:xfrm>
            <a:off x="2331720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1" name="Shape 79"/>
          <p:cNvSpPr/>
          <p:nvPr/>
        </p:nvSpPr>
        <p:spPr>
          <a:xfrm>
            <a:off x="2688336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2" name="Shape 80"/>
          <p:cNvSpPr/>
          <p:nvPr/>
        </p:nvSpPr>
        <p:spPr>
          <a:xfrm>
            <a:off x="3044952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01568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4" name="Shape 82"/>
          <p:cNvSpPr/>
          <p:nvPr/>
        </p:nvSpPr>
        <p:spPr>
          <a:xfrm>
            <a:off x="3758184" y="4599432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5" name="Shape 83"/>
          <p:cNvSpPr/>
          <p:nvPr/>
        </p:nvSpPr>
        <p:spPr>
          <a:xfrm>
            <a:off x="548640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6" name="Shape 84"/>
          <p:cNvSpPr/>
          <p:nvPr/>
        </p:nvSpPr>
        <p:spPr>
          <a:xfrm>
            <a:off x="905256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7" name="Shape 85"/>
          <p:cNvSpPr/>
          <p:nvPr/>
        </p:nvSpPr>
        <p:spPr>
          <a:xfrm>
            <a:off x="1261872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8" name="Shape 86"/>
          <p:cNvSpPr/>
          <p:nvPr/>
        </p:nvSpPr>
        <p:spPr>
          <a:xfrm>
            <a:off x="1618488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89" name="Shape 87"/>
          <p:cNvSpPr/>
          <p:nvPr/>
        </p:nvSpPr>
        <p:spPr>
          <a:xfrm>
            <a:off x="1975104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0" name="Shape 88"/>
          <p:cNvSpPr/>
          <p:nvPr/>
        </p:nvSpPr>
        <p:spPr>
          <a:xfrm>
            <a:off x="2331720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1" name="Shape 89"/>
          <p:cNvSpPr/>
          <p:nvPr/>
        </p:nvSpPr>
        <p:spPr>
          <a:xfrm>
            <a:off x="2688336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2" name="Shape 90"/>
          <p:cNvSpPr/>
          <p:nvPr/>
        </p:nvSpPr>
        <p:spPr>
          <a:xfrm>
            <a:off x="3044952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3" name="Shape 91"/>
          <p:cNvSpPr/>
          <p:nvPr/>
        </p:nvSpPr>
        <p:spPr>
          <a:xfrm>
            <a:off x="3401568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4" name="Shape 92"/>
          <p:cNvSpPr/>
          <p:nvPr/>
        </p:nvSpPr>
        <p:spPr>
          <a:xfrm>
            <a:off x="3758184" y="4956048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6" name="Shape 94"/>
          <p:cNvSpPr/>
          <p:nvPr/>
        </p:nvSpPr>
        <p:spPr>
          <a:xfrm>
            <a:off x="905256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7" name="Shape 95"/>
          <p:cNvSpPr/>
          <p:nvPr/>
        </p:nvSpPr>
        <p:spPr>
          <a:xfrm>
            <a:off x="1261872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8" name="Shape 96"/>
          <p:cNvSpPr/>
          <p:nvPr/>
        </p:nvSpPr>
        <p:spPr>
          <a:xfrm>
            <a:off x="1618488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99" name="Shape 97"/>
          <p:cNvSpPr/>
          <p:nvPr/>
        </p:nvSpPr>
        <p:spPr>
          <a:xfrm>
            <a:off x="1975104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100" name="Shape 98"/>
          <p:cNvSpPr/>
          <p:nvPr/>
        </p:nvSpPr>
        <p:spPr>
          <a:xfrm>
            <a:off x="2331720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688336" y="5312664"/>
            <a:ext cx="301752" cy="301752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44952" y="5312664"/>
            <a:ext cx="301752" cy="301752"/>
          </a:xfrm>
          <a:prstGeom prst="rect">
            <a:avLst/>
          </a:prstGeom>
          <a:solidFill>
            <a:srgbClr val="B4483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01568" y="5312664"/>
            <a:ext cx="301752" cy="301752"/>
          </a:xfrm>
          <a:prstGeom prst="rect">
            <a:avLst/>
          </a:prstGeom>
          <a:solidFill>
            <a:srgbClr val="B4483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58184" y="5312664"/>
            <a:ext cx="301752" cy="301752"/>
          </a:xfrm>
          <a:prstGeom prst="rect">
            <a:avLst/>
          </a:prstGeom>
          <a:solidFill>
            <a:srgbClr val="B4483C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0" y="2011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5400" dirty="0"/>
          </a:p>
        </p:txBody>
      </p:sp>
      <p:sp>
        <p:nvSpPr>
          <p:cNvPr id="106" name="Text 104"/>
          <p:cNvSpPr txBox="1"/>
          <p:nvPr/>
        </p:nvSpPr>
        <p:spPr>
          <a:xfrm>
            <a:off x="6629400" y="21488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klausa yang bunyinya ada dalam hasil analisis model</a:t>
            </a:r>
            <a:endParaRPr lang="en-US" sz="1500" dirty="0"/>
          </a:p>
        </p:txBody>
      </p:sp>
      <p:sp>
        <p:nvSpPr>
          <p:cNvPr id="107" name="Shape 105"/>
          <p:cNvSpPr/>
          <p:nvPr/>
        </p:nvSpPr>
        <p:spPr>
          <a:xfrm>
            <a:off x="4572000" y="3090672"/>
            <a:ext cx="201168" cy="201168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892040" y="3017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2000" dirty="0"/>
          </a:p>
        </p:txBody>
      </p:sp>
      <p:sp>
        <p:nvSpPr>
          <p:cNvPr id="109" name="Text 107"/>
          <p:cNvSpPr txBox="1"/>
          <p:nvPr/>
        </p:nvSpPr>
        <p:spPr>
          <a:xfrm>
            <a:off x="5760720" y="2999232"/>
            <a:ext cx="5852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Ditemukan, dipecah persis seperti rincian Bank Indonesia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1.365 klausa · skor kemiripan ≥ 0,80</a:t>
            </a:r>
            <a:endParaRPr lang="en-US" sz="1350" dirty="0"/>
          </a:p>
        </p:txBody>
      </p:sp>
      <p:sp>
        <p:nvSpPr>
          <p:cNvPr id="110" name="Shape 108"/>
          <p:cNvSpPr/>
          <p:nvPr/>
        </p:nvSpPr>
        <p:spPr>
          <a:xfrm>
            <a:off x="4572000" y="3749040"/>
            <a:ext cx="201168" cy="201168"/>
          </a:xfrm>
          <a:prstGeom prst="rect">
            <a:avLst/>
          </a:prstGeom>
          <a:solidFill>
            <a:srgbClr val="8CC7AE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4892040" y="367588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2000" dirty="0"/>
          </a:p>
        </p:txBody>
      </p:sp>
      <p:sp>
        <p:nvSpPr>
          <p:cNvPr id="112" name="Text 110"/>
          <p:cNvSpPr txBox="1"/>
          <p:nvPr/>
        </p:nvSpPr>
        <p:spPr>
          <a:xfrm>
            <a:off x="5760720" y="3657600"/>
            <a:ext cx="5852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Ada, tetapi dipecah berbeda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649 klausa · mis. dua klausa digabung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4572000" y="4407408"/>
            <a:ext cx="201168" cy="201168"/>
          </a:xfrm>
          <a:prstGeom prst="rect">
            <a:avLst/>
          </a:prstGeom>
          <a:solidFill>
            <a:srgbClr val="B4483C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4892040" y="43342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3%</a:t>
            </a:r>
            <a:endParaRPr lang="en-US" sz="2000" dirty="0"/>
          </a:p>
        </p:txBody>
      </p:sp>
      <p:sp>
        <p:nvSpPr>
          <p:cNvPr id="115" name="Text 113"/>
          <p:cNvSpPr txBox="1"/>
          <p:nvPr/>
        </p:nvSpPr>
        <p:spPr>
          <a:xfrm>
            <a:off x="5760720" y="4315968"/>
            <a:ext cx="5852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Benar-benar hilang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klausa · kurang dari 60% katanya muncul</a:t>
            </a:r>
            <a:endParaRPr lang="en-US" sz="1350" dirty="0"/>
          </a:p>
        </p:txBody>
      </p:sp>
      <p:sp>
        <p:nvSpPr>
          <p:cNvPr id="116" name="Shape 114"/>
          <p:cNvSpPr/>
          <p:nvPr/>
        </p:nvSpPr>
        <p:spPr>
          <a:xfrm>
            <a:off x="4572000" y="5074920"/>
            <a:ext cx="7068312" cy="77724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4754880" y="507492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ambang 60%? </a:t>
            </a:r>
            <a:pPr indent="0" marL="0">
              <a:buNone/>
            </a:pPr>
            <a:r>
              <a:rPr lang="en-US" sz="12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sini hanya diukur apakah isi klausa ada, bukan batasnya. Klausa yang lebih dari 40% katanya tidak muncul dianggap hilang.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548640" y="60807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PROSPEK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Langkah berikutnya: menerapkan model dan menambah dokumen berlabel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2514600"/>
          </a:xfrm>
          <a:prstGeom prst="rect">
            <a:avLst/>
          </a:prstGeom>
          <a:solidFill>
            <a:srgbClr val="E8F2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5E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model khusus cocok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tetap terkendali.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tidak dikirim ke layanan AI pihak ketiga.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Mengikuti metode Bank Indonesia.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analisis mengikuti konvensi data rinciannya.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Konsekuensinya kecepatan.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terpanjang ±16 menit (1 GPU H200, 8 dokumen bersamaan) vs &lt; 3 menit untuk gpt-4.1-mini.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53912" y="1691640"/>
            <a:ext cx="5486400" cy="2514600"/>
          </a:xfrm>
          <a:prstGeom prst="rect">
            <a:avLst/>
          </a:prstGeom>
          <a:solidFill>
            <a:srgbClr val="F1F3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28232" y="1801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Keterbatasan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2860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Sampel kecil.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dokumen uji; hasil per produk bersifat indikatif.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kata.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mengukur kesamaan kata, bukan makna; klausa yang dipecah berbeda mendapat nilai sebagian.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gpt-4.1-mini tidak disesuaikan.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sama, tanpa contoh atau pelatihan tambahan.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5486400" cy="1554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389120"/>
            <a:ext cx="54864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72000"/>
            <a:ext cx="640080" cy="640080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52628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Terapkan model fine-tuned v0.1.3 di aplikasi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tahap pertama pemeriksaan Perjanjian Baku.</a:t>
            </a:r>
            <a:endParaRPr lang="en-US" sz="13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ScaleJade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53912" y="4389120"/>
            <a:ext cx="5486400" cy="1554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153912" y="4389120"/>
            <a:ext cx="54864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28232" y="4572000"/>
            <a:ext cx="640080" cy="640080"/>
          </a:xfrm>
          <a:prstGeom prst="ellipse">
            <a:avLst/>
          </a:prstGeom>
          <a:solidFill>
            <a:srgbClr val="0B5E4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28232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251192" y="452628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dokumen berlabel untuk versi berikutnya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saat ini belum memungkinkan pelabelan lebih banyak; tambahan dokumen akan meningkatkan akurasi.</a:t>
            </a:r>
            <a:endParaRPr lang="en-US" sz="13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Indonesia bersama ScaleJade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 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Hasil per dokumen uji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691640"/>
                <a:gridCol w="1691640"/>
                <a:gridCol w="1691640"/>
                <a:gridCol w="1630375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Fine-tuned: Recall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Fine-tuned: F1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gpt-4.1-mini: Recall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gpt-4.1-mini: F1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MUAMALAT Internet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MANDIRI Mobile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JATENG Kartu Debit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BCA Kartu Debit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SINARMAS UE Server-Based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NAGARI Mobile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 Payment Gateway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SULTRA Kartu Debit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 UE Chip-Based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SEABANK Mobile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DBS Mobile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SMBC Kartu Kredit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OCBC Kartu Kredit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SHOPEEPAY UE Server-Based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BJB Mobile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BOC Mobile &amp; Internet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OCBC Internet Banking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17 dokumen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Evaluasi ScaleJade, Oktober 2026. Skor = rata-rata kemiripan Jaccard per klausa, skala 0–100; kedua model diatur pada jawaban paling konsisten.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 B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Peta cakupan: seluruh 29 kategori memiliki dokumen pelatihan; 17 di antaranya juga diuji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7  </a:t>
            </a:r>
            <a:pPr indent="0" marL="0">
              <a:buNone/>
            </a:pPr>
            <a:r>
              <a:rPr lang="en-US" sz="120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dokumen per jenis penyelenggara × produk, menurut kelompok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Banking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691433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Debit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685386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Banking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79338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Kredit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673291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 Server-Based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667244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Internet Banking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61197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 Chip-Based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655150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649102" y="1965960"/>
            <a:ext cx="9939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Remitansi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Swasta Nasional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24912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9280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29280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12744" y="2660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12744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18865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1501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81501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064965" y="2660904"/>
            <a:ext cx="246888" cy="256032"/>
          </a:xfrm>
          <a:prstGeom prst="rect">
            <a:avLst/>
          </a:prstGeom>
          <a:solidFill>
            <a:srgbClr val="3FA37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4965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8429" y="2660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48429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12818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4917186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17186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200650" y="2660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200650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706770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5911139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11139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4603" y="2660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94603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00723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6905092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05092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188556" y="2660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88556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694676" y="2596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43" name="Shape 41"/>
          <p:cNvSpPr/>
          <p:nvPr/>
        </p:nvSpPr>
        <p:spPr>
          <a:xfrm>
            <a:off x="8688629" y="2596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9034729" y="2660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034729" y="2660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682582" y="2596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47" name="Shape 45"/>
          <p:cNvSpPr/>
          <p:nvPr/>
        </p:nvSpPr>
        <p:spPr>
          <a:xfrm>
            <a:off x="10676534" y="2596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Multinational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2724912" y="3054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2929280" y="3118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929280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212744" y="31181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212744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718865" y="3054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4064965" y="3118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064965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712818" y="3054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4917186" y="3118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917186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200650" y="31181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200650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706770" y="3054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5911139" y="3118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911139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194603" y="31181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194603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700723" y="3054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68" name="Shape 66"/>
          <p:cNvSpPr/>
          <p:nvPr/>
        </p:nvSpPr>
        <p:spPr>
          <a:xfrm>
            <a:off x="7694676" y="3054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hape 67"/>
          <p:cNvSpPr/>
          <p:nvPr/>
        </p:nvSpPr>
        <p:spPr>
          <a:xfrm>
            <a:off x="7899044" y="3118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899044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182508" y="31181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8182508" y="3118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688629" y="3054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74" name="Shape 72"/>
          <p:cNvSpPr/>
          <p:nvPr/>
        </p:nvSpPr>
        <p:spPr>
          <a:xfrm>
            <a:off x="9682582" y="3054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75" name="Shape 73"/>
          <p:cNvSpPr/>
          <p:nvPr/>
        </p:nvSpPr>
        <p:spPr>
          <a:xfrm>
            <a:off x="10676534" y="3054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3474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BPD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2724912" y="35112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2929280" y="35753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929280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212744" y="35753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212744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18865" y="35112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3781501" y="35753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81501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064965" y="3575304"/>
            <a:ext cx="246888" cy="256032"/>
          </a:xfrm>
          <a:prstGeom prst="rect">
            <a:avLst/>
          </a:prstGeom>
          <a:solidFill>
            <a:srgbClr val="3FA37E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064965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4348429" y="35753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348429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4712818" y="35112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Shape 88"/>
          <p:cNvSpPr/>
          <p:nvPr/>
        </p:nvSpPr>
        <p:spPr>
          <a:xfrm>
            <a:off x="5058918" y="35753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058918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5706770" y="35112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0723" y="35112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94" name="Shape 92"/>
          <p:cNvSpPr/>
          <p:nvPr/>
        </p:nvSpPr>
        <p:spPr>
          <a:xfrm>
            <a:off x="7694676" y="35112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8040776" y="35753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8040776" y="35753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8688629" y="35112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98" name="Shape 96"/>
          <p:cNvSpPr/>
          <p:nvPr/>
        </p:nvSpPr>
        <p:spPr>
          <a:xfrm>
            <a:off x="9682582" y="35112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99" name="Shape 97"/>
          <p:cNvSpPr/>
          <p:nvPr/>
        </p:nvSpPr>
        <p:spPr>
          <a:xfrm>
            <a:off x="10676534" y="35112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864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BUMN</a:t>
            </a:r>
            <a:endParaRPr lang="en-US" sz="1150" dirty="0"/>
          </a:p>
        </p:txBody>
      </p:sp>
      <p:sp>
        <p:nvSpPr>
          <p:cNvPr id="101" name="Shape 99"/>
          <p:cNvSpPr/>
          <p:nvPr/>
        </p:nvSpPr>
        <p:spPr>
          <a:xfrm>
            <a:off x="2724912" y="39684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787548" y="40325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787548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3071012" y="4032504"/>
            <a:ext cx="246888" cy="256032"/>
          </a:xfrm>
          <a:prstGeom prst="rect">
            <a:avLst/>
          </a:prstGeom>
          <a:solidFill>
            <a:srgbClr val="3FA37E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071012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3354476" y="40325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354476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3718865" y="39684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064965" y="40325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064965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712818" y="39684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058918" y="40325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058918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706770" y="39684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052871" y="40325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6052871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6700723" y="39684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694676" y="39684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88629" y="39684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892997" y="40325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892997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9176461" y="40325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176461" y="40325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9682582" y="39684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676534" y="39684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548640" y="4389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Swasta Nasional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2724912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071012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071012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3718865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064965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4064965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4712818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058918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5058918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6" name="Shape 134"/>
          <p:cNvSpPr/>
          <p:nvPr/>
        </p:nvSpPr>
        <p:spPr>
          <a:xfrm>
            <a:off x="5706770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52871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052871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9" name="Shape 137"/>
          <p:cNvSpPr/>
          <p:nvPr/>
        </p:nvSpPr>
        <p:spPr>
          <a:xfrm>
            <a:off x="6700723" y="44256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94676" y="44256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688629" y="44256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82582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886950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886950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45" name="Shape 143"/>
          <p:cNvSpPr/>
          <p:nvPr/>
        </p:nvSpPr>
        <p:spPr>
          <a:xfrm>
            <a:off x="10170414" y="44897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10170414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47" name="Shape 145"/>
          <p:cNvSpPr/>
          <p:nvPr/>
        </p:nvSpPr>
        <p:spPr>
          <a:xfrm>
            <a:off x="10676534" y="44256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1022635" y="44897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11022635" y="44897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50" name="Text 148"/>
          <p:cNvSpPr txBox="1"/>
          <p:nvPr/>
        </p:nvSpPr>
        <p:spPr>
          <a:xfrm>
            <a:off x="548640" y="4846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BPD</a:t>
            </a:r>
            <a:endParaRPr lang="en-US" sz="1150" dirty="0"/>
          </a:p>
        </p:txBody>
      </p:sp>
      <p:sp>
        <p:nvSpPr>
          <p:cNvPr id="151" name="Shape 149"/>
          <p:cNvSpPr/>
          <p:nvPr/>
        </p:nvSpPr>
        <p:spPr>
          <a:xfrm>
            <a:off x="2724912" y="4882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929280" y="4946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929280" y="4946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4" name="Shape 152"/>
          <p:cNvSpPr/>
          <p:nvPr/>
        </p:nvSpPr>
        <p:spPr>
          <a:xfrm>
            <a:off x="3212744" y="4946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3212744" y="4946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56" name="Shape 154"/>
          <p:cNvSpPr/>
          <p:nvPr/>
        </p:nvSpPr>
        <p:spPr>
          <a:xfrm>
            <a:off x="3718865" y="48828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7" name="Shape 155"/>
          <p:cNvSpPr/>
          <p:nvPr/>
        </p:nvSpPr>
        <p:spPr>
          <a:xfrm>
            <a:off x="3923233" y="49469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3923233" y="4946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59" name="Shape 157"/>
          <p:cNvSpPr/>
          <p:nvPr/>
        </p:nvSpPr>
        <p:spPr>
          <a:xfrm>
            <a:off x="4206697" y="49469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4206697" y="49469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61" name="Shape 159"/>
          <p:cNvSpPr/>
          <p:nvPr/>
        </p:nvSpPr>
        <p:spPr>
          <a:xfrm>
            <a:off x="4712818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06770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00723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694676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5" name="Shape 163"/>
          <p:cNvSpPr/>
          <p:nvPr/>
        </p:nvSpPr>
        <p:spPr>
          <a:xfrm>
            <a:off x="8688629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682582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676534" y="48828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54864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Utama / LSB</a:t>
            </a:r>
            <a:endParaRPr lang="en-US" sz="1150" dirty="0"/>
          </a:p>
        </p:txBody>
      </p:sp>
      <p:sp>
        <p:nvSpPr>
          <p:cNvPr id="169" name="Shape 167"/>
          <p:cNvSpPr/>
          <p:nvPr/>
        </p:nvSpPr>
        <p:spPr>
          <a:xfrm>
            <a:off x="2724912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718865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712818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706770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700723" y="5340096"/>
            <a:ext cx="939089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63360" y="5404104"/>
            <a:ext cx="246888" cy="25603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763360" y="5404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6" name="Shape 174"/>
          <p:cNvSpPr/>
          <p:nvPr/>
        </p:nvSpPr>
        <p:spPr>
          <a:xfrm>
            <a:off x="7046824" y="5404104"/>
            <a:ext cx="246888" cy="256032"/>
          </a:xfrm>
          <a:prstGeom prst="rect">
            <a:avLst/>
          </a:prstGeom>
          <a:solidFill>
            <a:srgbClr val="3FA37E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046824" y="5404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8" name="Shape 176"/>
          <p:cNvSpPr/>
          <p:nvPr/>
        </p:nvSpPr>
        <p:spPr>
          <a:xfrm>
            <a:off x="7330288" y="5404104"/>
            <a:ext cx="246888" cy="25603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7330288" y="5404104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80" name="Shape 178"/>
          <p:cNvSpPr/>
          <p:nvPr/>
        </p:nvSpPr>
        <p:spPr>
          <a:xfrm>
            <a:off x="7694676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81" name="Shape 179"/>
          <p:cNvSpPr/>
          <p:nvPr/>
        </p:nvSpPr>
        <p:spPr>
          <a:xfrm>
            <a:off x="8688629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682582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676534" y="5340096"/>
            <a:ext cx="939089" cy="384048"/>
          </a:xfrm>
          <a:prstGeom prst="rect">
            <a:avLst/>
          </a:prstGeom>
          <a:solidFill>
            <a:srgbClr val="F3F4F1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48640" y="5916168"/>
            <a:ext cx="164592" cy="164592"/>
          </a:xfrm>
          <a:prstGeom prst="rect">
            <a:avLst/>
          </a:prstGeom>
          <a:solidFill>
            <a:srgbClr val="0B5E45"/>
          </a:solidFill>
          <a:ln/>
        </p:spPr>
      </p:sp>
      <p:sp>
        <p:nvSpPr>
          <p:cNvPr id="185" name="Text 183"/>
          <p:cNvSpPr txBox="1"/>
          <p:nvPr/>
        </p:nvSpPr>
        <p:spPr>
          <a:xfrm>
            <a:off x="786384" y="58704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Pelatihan</a:t>
            </a:r>
            <a:endParaRPr lang="en-US" sz="1100" dirty="0"/>
          </a:p>
        </p:txBody>
      </p:sp>
      <p:sp>
        <p:nvSpPr>
          <p:cNvPr id="186" name="Shape 184"/>
          <p:cNvSpPr/>
          <p:nvPr/>
        </p:nvSpPr>
        <p:spPr>
          <a:xfrm>
            <a:off x="1920240" y="5916168"/>
            <a:ext cx="164592" cy="164592"/>
          </a:xfrm>
          <a:prstGeom prst="rect">
            <a:avLst/>
          </a:prstGeom>
          <a:solidFill>
            <a:srgbClr val="3FA37E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2157984" y="58704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</a:t>
            </a:r>
            <a:endParaRPr lang="en-US" sz="1100" dirty="0"/>
          </a:p>
        </p:txBody>
      </p:sp>
      <p:sp>
        <p:nvSpPr>
          <p:cNvPr id="188" name="Shape 186"/>
          <p:cNvSpPr/>
          <p:nvPr/>
        </p:nvSpPr>
        <p:spPr>
          <a:xfrm>
            <a:off x="3291840" y="5916168"/>
            <a:ext cx="164592" cy="164592"/>
          </a:xfrm>
          <a:prstGeom prst="rect">
            <a:avLst/>
          </a:prstGeom>
          <a:solidFill>
            <a:srgbClr val="5E6660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529584" y="58704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</a:t>
            </a:r>
            <a:endParaRPr lang="en-US" sz="1100" dirty="0"/>
          </a:p>
        </p:txBody>
      </p:sp>
      <p:sp>
        <p:nvSpPr>
          <p:cNvPr id="190" name="Text 188"/>
          <p:cNvSpPr txBox="1"/>
          <p:nvPr/>
        </p:nvSpPr>
        <p:spPr>
          <a:xfrm>
            <a:off x="4754880" y="5870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 kosong berarti tidak ada dokumen untuk kombinasi tersebut.</a:t>
            </a:r>
            <a:endParaRPr lang="en-US" sz="1100" dirty="0"/>
          </a:p>
        </p:txBody>
      </p:sp>
      <p:sp>
        <p:nvSpPr>
          <p:cNvPr id="191" name="Text 189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acuan Bank Indonesia; hasil analisis ScaleJade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 C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Daftar 60 dokumen beserta kategori dan kelompoknya (1/3)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468880"/>
                <a:gridCol w="2560320"/>
                <a:gridCol w="1493215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Jenis 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Kelompok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Aceh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Banten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Banten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Central Asia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Central Asia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Negara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Syariah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Tabungan Negara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CIMB Niaga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CIMB Niaga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Server-Based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Danamon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Chip-Based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Dompet Anak Bangsa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Server-Based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LSB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Honest Financial Technologies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Jago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Jawa Tengah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Jawa Timur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Jawa Timur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JTrust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&amp; 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Kalimantan Selatan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Kalimantan Timur dan Utara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&amp; 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acuan Bank Indonesia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 C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Daftar 60 dokumen beserta kategori dan kelompoknya (2/3)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468880"/>
                <a:gridCol w="2560320"/>
                <a:gridCol w="1493215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Jenis 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Kelompok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Mandiri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Mandiri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Chip-Based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Maspion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Maspion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Maybank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&amp; 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Mega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Mega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Nusa Tenggara Timur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OCBC NISP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Sinarmas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SMBC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Chartered Bank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Chartered Bank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Sulawesi Selatan dan Barat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UOB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UOB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UOB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Remitansi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Yukk Kreasi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Gateway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Pelatihan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Negara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acuan Bank Indonesia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5E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 C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400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Daftar 60 dokumen beserta kategori dan kelompoknya (3/3)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468880"/>
                <a:gridCol w="2560320"/>
                <a:gridCol w="1493215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Jenis penyelenggara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Kelompok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CIMB Niaga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Jambi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Visionet International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Server-Based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LSB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Central Asia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Jawa Barat dan Banten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of China Ltd Cabang Jakarta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&amp; 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Rakyat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Chip-Based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DBS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Jawa Tengah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Mandiri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BUMN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Muamalat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Sumatera Barat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OCBC NISP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OCBC NISP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Multinational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Dompet Harapan Bangsa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Gateway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Seabank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Banking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Airpay International Indonesia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Server-Based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LSB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Sinarmas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 Server-Based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Bank SMBC Indonesia Tbk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Kredit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Utama / Swasta Nasional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Pembangunan Daerah Sulawesi Tenggara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Kartu Debit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F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21792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Data acuan Bank Indonesia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1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ScaleJade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Ekstraksi Klausa Perjanjian Baku</dc:title>
  <dc:subject>PptxGenJS Presentation</dc:subject>
  <dc:creator>PptxGenJS</dc:creator>
  <cp:lastModifiedBy>PptxGenJS</cp:lastModifiedBy>
  <cp:revision>1</cp:revision>
  <dcterms:created xsi:type="dcterms:W3CDTF">2026-10-25T03:38:04Z</dcterms:created>
  <dcterms:modified xsi:type="dcterms:W3CDTF">2026-10-25T03:38:04Z</dcterms:modified>
</cp:coreProperties>
</file>